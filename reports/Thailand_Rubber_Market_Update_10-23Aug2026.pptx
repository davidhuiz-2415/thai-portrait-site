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24"/>
                </a:solidFill>
                <a:latin typeface="Calibri"/>
              </a:defRPr>
            </a:pPr>
            <a:r>
              <a:rPr sz="1300" b="0" i="0" u="none" strike="noStrike">
                <a:solidFill>
                  <a:srgbClr val="1F2A24"/>
                </a:solidFill>
                <a:latin typeface="Calibri"/>
              </a:rPr>
              <a:t>SICOM TSR20 daily settles (US¢/kg)</a:t>
            </a:r>
          </a:p>
        </c:rich>
      </c:tx>
      <c:layout/>
      <c:overlay val="0"/>
    </c:title>
    <c:autoTitleDeleted val="0"/>
    <c:plotArea>
      <c:layout/>
      <c:lineChart>
        <c:varyColors val="0"/>
        <c:ser>
          <c:idx val="0"/>
          <c:order val="0"/>
          <c:tx>
            <c:strRef>
              <c:f>Sheet1!$B$1</c:f>
              <c:strCache>
                <c:ptCount val="1"/>
                <c:pt idx="0">
                  <c:v>SICOM TSR20 Sep (US¢/kg)</c:v>
                </c:pt>
              </c:strCache>
            </c:strRef>
          </c:tx>
          <c:spPr>
            <a:solidFill>
              <a:srgbClr val="2D6A4F"/>
            </a:solidFill>
            <a:ln w="38100" cap="flat">
              <a:solidFill>
                <a:srgbClr val="2D6A4F"/>
              </a:solidFill>
              <a:prstDash val="solid"/>
              <a:round/>
            </a:ln>
            <a:effectLst/>
          </c:spPr>
          <c:invertIfNegative val="0"/>
          <c:dLbls>
            <c:numFmt formatCode="0.0" sourceLinked="0"/>
            <c:txPr>
              <a:bodyPr/>
              <a:lstStyle/>
              <a:p>
                <a:pPr>
                  <a:defRPr b="0" i="0" strike="noStrike" sz="1000" u="none">
                    <a:solidFill>
                      <a:srgbClr val="1F2A24"/>
                    </a:solidFill>
                    <a:latin typeface="Calibri"/>
                  </a:defRPr>
                </a:pPr>
              </a:p>
            </c:txPr>
            <c:dLblPos val="t"/>
            <c:showLegendKey val="0"/>
            <c:showVal val="1"/>
            <c:showCatName val="0"/>
            <c:showSerName val="0"/>
            <c:showPercent val="0"/>
            <c:showBubbleSize val="0"/>
            <c:showLeaderLines val="0"/>
          </c:dLbls>
          <c:marker>
            <c:symbol val="circle"/>
            <c:size val="7"/>
            <c:spPr>
              <a:solidFill>
                <a:srgbClr val="2D6A4F"/>
              </a:solidFill>
              <a:ln w="9525" cap="flat">
                <a:solidFill>
                  <a:srgbClr val="2D6A4F"/>
                </a:solidFill>
                <a:prstDash val="solid"/>
                <a:round/>
              </a:ln>
              <a:effectLst/>
            </c:spPr>
          </c:marker>
          <c:cat>
            <c:multiLvlStrRef>
              <c:f>Sheet1!$A$2:$A$7</c:f>
              <c:multiLvlStrCache>
                <c:ptCount val="6"/>
                <c:lvl>
                  <c:pt idx="0">
                    <c:v>12 Aug</c:v>
                  </c:pt>
                  <c:pt idx="1">
                    <c:v>14 Aug</c:v>
                  </c:pt>
                  <c:pt idx="2">
                    <c:v>17 Aug</c:v>
                  </c:pt>
                  <c:pt idx="3">
                    <c:v>18 Aug</c:v>
                  </c:pt>
                  <c:pt idx="4">
                    <c:v>19 Aug</c:v>
                  </c:pt>
                  <c:pt idx="5">
                    <c:v>20 Aug</c:v>
                  </c:pt>
                </c:lvl>
              </c:multiLvlStrCache>
            </c:multiLvlStrRef>
          </c:cat>
          <c:val>
            <c:numRef>
              <c:f>Sheet1!$B$2:$B$7</c:f>
              <c:numCache>
                <c:formatCode>General</c:formatCode>
                <c:ptCount val="6"/>
                <c:pt idx="0">
                  <c:v>222.2</c:v>
                </c:pt>
                <c:pt idx="1">
                  <c:v>219.8</c:v>
                </c:pt>
                <c:pt idx="2">
                  <c:v>223.7</c:v>
                </c:pt>
                <c:pt idx="3">
                  <c:v>224.8</c:v>
                </c:pt>
                <c:pt idx="4">
                  <c:v>228.2</c:v>
                </c:pt>
                <c:pt idx="5">
                  <c:v>231.1</c:v>
                </c:pt>
              </c:numCache>
            </c:numRef>
          </c:val>
          <c:smooth val="0"/>
        </c:ser>
        <c:dLbls>
          <c:numFmt formatCode="0.0" sourceLinked="0"/>
          <c:txPr>
            <a:bodyPr/>
            <a:lstStyle/>
            <a:p>
              <a:pPr>
                <a:defRPr b="0" i="0" strike="noStrike" sz="1000" u="none">
                  <a:solidFill>
                    <a:srgbClr val="1F2A2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6B60"/>
                </a:solidFill>
                <a:latin typeface="Calibri"/>
              </a:defRPr>
            </a:pPr>
            <a:endParaRPr lang="en-US"/>
          </a:p>
        </c:txPr>
        <c:crossAx val="2094734552"/>
        <c:crosses val="autoZero"/>
        <c:auto val="1"/>
        <c:lblAlgn val="ctr"/>
        <c:noMultiLvlLbl val="1"/>
      </c:catAx>
      <c:valAx>
        <c:axId val="2094734552"/>
        <c:scaling>
          <c:orientation val="minMax"/>
          <c:max val="235"/>
          <c:min val="215"/>
        </c:scaling>
        <c:delete val="0"/>
        <c:axPos val="l"/>
        <c:majorGridlines>
          <c:spPr>
            <a:ln w="9525" cap="flat">
              <a:solidFill>
                <a:srgbClr val="D7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60"/>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24"/>
                </a:solidFill>
                <a:latin typeface="Calibri"/>
              </a:defRPr>
            </a:pPr>
            <a:r>
              <a:rPr sz="1300" b="0" i="0" u="none" strike="noStrike">
                <a:solidFill>
                  <a:srgbClr val="1F2A24"/>
                </a:solidFill>
                <a:latin typeface="Calibri"/>
              </a:rPr>
              <a:t>OSE warehouse NR stock (tonnes)</a:t>
            </a:r>
          </a:p>
        </c:rich>
      </c:tx>
      <c:layout/>
      <c:overlay val="0"/>
    </c:title>
    <c:autoTitleDeleted val="0"/>
    <c:plotArea>
      <c:layout/>
      <c:barChart>
        <c:barDir val="col"/>
        <c:grouping val="clustered"/>
        <c:varyColors val="0"/>
        <c:ser>
          <c:idx val="0"/>
          <c:order val="0"/>
          <c:tx>
            <c:strRef>
              <c:f>Sheet1!$B$1</c:f>
              <c:strCache>
                <c:ptCount val="1"/>
                <c:pt idx="0">
                  <c:v>OSE designated-warehouse NR stock (t)</c:v>
                </c:pt>
              </c:strCache>
            </c:strRef>
          </c:tx>
          <c:spPr>
            <a:solidFill>
              <a:srgbClr val="2D6A4F">
                <a:alpha val="100000"/>
              </a:srgbClr>
            </a:solidFill>
            <a:effectLst/>
          </c:spPr>
          <c:invertIfNegative val="0"/>
          <c:dLbls>
            <c:numFmt formatCode="#,##0" sourceLinked="0"/>
            <c:txPr>
              <a:bodyPr/>
              <a:lstStyle/>
              <a:p>
                <a:pPr>
                  <a:defRPr b="0" i="0" strike="noStrike" sz="1050" u="none">
                    <a:solidFill>
                      <a:srgbClr val="1F2A24"/>
                    </a:solidFill>
                    <a:latin typeface="Calibri"/>
                  </a:defRPr>
                </a:pPr>
              </a:p>
            </c:txPr>
            <c:showLegendKey val="0"/>
            <c:showVal val="1"/>
            <c:showCatName val="0"/>
            <c:showSerName val="0"/>
            <c:showPercent val="0"/>
            <c:showBubbleSize val="0"/>
            <c:showLeaderLines val="0"/>
          </c:dLbls>
          <c:cat>
            <c:multiLvlStrRef>
              <c:f>Sheet1!$A$2:$A$6</c:f>
              <c:multiLvlStrCache>
                <c:ptCount val="5"/>
                <c:lvl>
                  <c:pt idx="0">
                    <c:v>Jun peak</c:v>
                  </c:pt>
                  <c:pt idx="1">
                    <c:v>10 Jul</c:v>
                  </c:pt>
                  <c:pt idx="2">
                    <c:v>20 Jul</c:v>
                  </c:pt>
                  <c:pt idx="3">
                    <c:v>31 Jul</c:v>
                  </c:pt>
                  <c:pt idx="4">
                    <c:v>10 Aug</c:v>
                  </c:pt>
                </c:lvl>
              </c:multiLvlStrCache>
            </c:multiLvlStrRef>
          </c:cat>
          <c:val>
            <c:numRef>
              <c:f>Sheet1!$B$2:$B$6</c:f>
              <c:numCache>
                <c:formatCode>General</c:formatCode>
                <c:ptCount val="5"/>
                <c:pt idx="0">
                  <c:v>5470</c:v>
                </c:pt>
                <c:pt idx="1">
                  <c:v>4669</c:v>
                </c:pt>
                <c:pt idx="2">
                  <c:v>4423</c:v>
                </c:pt>
                <c:pt idx="3">
                  <c:v>3601</c:v>
                </c:pt>
                <c:pt idx="4">
                  <c:v>3002</c:v>
                </c:pt>
              </c:numCache>
            </c:numRef>
          </c:val>
        </c:ser>
        <c:dLbls>
          <c:numFmt formatCode="#,##0" sourceLinked="0"/>
          <c:txPr>
            <a:bodyPr/>
            <a:lstStyle/>
            <a:p>
              <a:pPr>
                <a:defRPr b="0" i="0" strike="noStrike" sz="1050" u="none">
                  <a:solidFill>
                    <a:srgbClr val="1F2A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6B60"/>
                </a:solidFill>
                <a:latin typeface="Calibri"/>
              </a:defRPr>
            </a:pPr>
            <a:endParaRPr lang="en-US"/>
          </a:p>
        </c:txPr>
        <c:crossAx val="2094734552"/>
        <c:crosses val="autoZero"/>
        <c:auto val="1"/>
        <c:lblAlgn val="ctr"/>
        <c:noMultiLvlLbl val="1"/>
      </c:catAx>
      <c:valAx>
        <c:axId val="2094734552"/>
        <c:scaling>
          <c:orientation val="minMax"/>
          <c:max val="6000"/>
        </c:scaling>
        <c:delete val="0"/>
        <c:axPos val="l"/>
        <c:majorGridlines>
          <c:spPr>
            <a:ln w="9525" cap="flat">
              <a:solidFill>
                <a:srgbClr val="D7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60"/>
                </a:solidFill>
                <a:latin typeface="Calibri"/>
              </a:defRPr>
            </a:pPr>
            <a:endParaRPr lang="en-US"/>
          </a:p>
        </c:txPr>
        <c:crossAx val="2094734554"/>
        <c:crosses val="autoZero"/>
        <c:crossBetween val="between"/>
        <c:majorUnit val="15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566928"/>
            <a:ext cx="274320" cy="274320"/>
          </a:xfrm>
          <a:prstGeom prst="rect">
            <a:avLst/>
          </a:prstGeom>
        </p:spPr>
      </p:pic>
      <p:sp>
        <p:nvSpPr>
          <p:cNvPr id="3" name="Text 0"/>
          <p:cNvSpPr/>
          <p:nvPr/>
        </p:nvSpPr>
        <p:spPr>
          <a:xfrm>
            <a:off x="960120" y="548640"/>
            <a:ext cx="7315200" cy="320040"/>
          </a:xfrm>
          <a:prstGeom prst="rect">
            <a:avLst/>
          </a:prstGeom>
          <a:noFill/>
          <a:ln/>
        </p:spPr>
        <p:txBody>
          <a:bodyPr wrap="square" lIns="0" tIns="0" rIns="0" bIns="0" rtlCol="0" anchor="ctr"/>
          <a:lstStyle/>
          <a:p>
            <a:pPr algn="l" indent="0" marL="0">
              <a:buNone/>
            </a:pPr>
            <a:r>
              <a:rPr lang="en-US" sz="1300" b="1" spc="300" kern="0" dirty="0">
                <a:solidFill>
                  <a:srgbClr val="E0A526"/>
                </a:solidFill>
                <a:latin typeface="Calibri" pitchFamily="34" charset="0"/>
                <a:ea typeface="Calibri" pitchFamily="34" charset="-122"/>
                <a:cs typeface="Calibri" pitchFamily="34" charset="-120"/>
              </a:rPr>
              <a:t>OLAM AGRI  ·  RUBBER DESK  ·  BANGKOK</a:t>
            </a:r>
            <a:endParaRPr lang="en-US" sz="1300" dirty="0"/>
          </a:p>
        </p:txBody>
      </p:sp>
      <p:sp>
        <p:nvSpPr>
          <p:cNvPr id="4" name="Text 1"/>
          <p:cNvSpPr/>
          <p:nvPr/>
        </p:nvSpPr>
        <p:spPr>
          <a:xfrm>
            <a:off x="566928" y="1371600"/>
            <a:ext cx="1078992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Thailand Rubber Market</a:t>
            </a:r>
            <a:endParaRPr lang="en-US" sz="4800" dirty="0"/>
          </a:p>
        </p:txBody>
      </p:sp>
      <p:sp>
        <p:nvSpPr>
          <p:cNvPr id="5" name="Text 2"/>
          <p:cNvSpPr/>
          <p:nvPr/>
        </p:nvSpPr>
        <p:spPr>
          <a:xfrm>
            <a:off x="566928" y="2331720"/>
            <a:ext cx="10789920" cy="457200"/>
          </a:xfrm>
          <a:prstGeom prst="rect">
            <a:avLst/>
          </a:prstGeom>
          <a:noFill/>
          <a:ln/>
        </p:spPr>
        <p:txBody>
          <a:bodyPr wrap="square" lIns="0" tIns="0" rIns="0" bIns="0" rtlCol="0" anchor="ctr"/>
          <a:lstStyle/>
          <a:p>
            <a:pPr indent="0" marL="0">
              <a:buNone/>
            </a:pPr>
            <a:r>
              <a:rPr lang="en-US" sz="2000" b="1" dirty="0">
                <a:solidFill>
                  <a:srgbClr val="E0A526"/>
                </a:solidFill>
                <a:latin typeface="Calibri" pitchFamily="34" charset="0"/>
                <a:ea typeface="Calibri" pitchFamily="34" charset="-122"/>
                <a:cs typeface="Calibri" pitchFamily="34" charset="-120"/>
              </a:rPr>
              <a:t>Two-week review · 10 – 23 August 2026</a:t>
            </a:r>
            <a:pPr indent="0" marL="0">
              <a:buNone/>
            </a:pPr>
            <a:r>
              <a:rPr lang="en-US" sz="2000" dirty="0">
                <a:solidFill>
                  <a:srgbClr val="DCE9DF"/>
                </a:solidFill>
                <a:latin typeface="Calibri" pitchFamily="34" charset="0"/>
                <a:ea typeface="Calibri" pitchFamily="34" charset="-122"/>
                <a:cs typeface="Calibri" pitchFamily="34" charset="-120"/>
              </a:rPr>
              <a:t>   —   from washout to rally</a:t>
            </a:r>
            <a:endParaRPr lang="en-US" sz="2000" dirty="0"/>
          </a:p>
        </p:txBody>
      </p:sp>
      <p:sp>
        <p:nvSpPr>
          <p:cNvPr id="6" name="Text 3"/>
          <p:cNvSpPr/>
          <p:nvPr/>
        </p:nvSpPr>
        <p:spPr>
          <a:xfrm>
            <a:off x="566928" y="2880360"/>
            <a:ext cx="10515600" cy="914400"/>
          </a:xfrm>
          <a:prstGeom prst="rect">
            <a:avLst/>
          </a:prstGeom>
          <a:noFill/>
          <a:ln/>
        </p:spPr>
        <p:txBody>
          <a:bodyPr wrap="square" lIns="0" tIns="0" rIns="0" bIns="0" rtlCol="0" anchor="ctr"/>
          <a:lstStyle/>
          <a:p>
            <a:pPr indent="0" marL="0">
              <a:lnSpc>
                <a:spcPct val="115000"/>
              </a:lnSpc>
              <a:buNone/>
            </a:pPr>
            <a:r>
              <a:rPr lang="en-US" sz="1450" dirty="0">
                <a:solidFill>
                  <a:srgbClr val="DCE9DF"/>
                </a:solidFill>
                <a:latin typeface="Calibri" pitchFamily="34" charset="0"/>
                <a:ea typeface="Calibri" pitchFamily="34" charset="-122"/>
                <a:cs typeface="Calibri" pitchFamily="34" charset="-120"/>
              </a:rPr>
              <a:t>SICOM traded down to 219.8 US¢ on 14 Aug on weak China demand and rising regional supply, then rallied five straight sessions to 231.1 as Hormuz oil risk returned, the dollar slid and the record TOCOM squeeze deepened. Thai raw materials firmed off the lows with producers re-engaging into the new trading season.</a:t>
            </a:r>
            <a:endParaRPr lang="en-US" sz="1450" dirty="0"/>
          </a:p>
        </p:txBody>
      </p:sp>
      <p:sp>
        <p:nvSpPr>
          <p:cNvPr id="7" name="Shape 4"/>
          <p:cNvSpPr/>
          <p:nvPr/>
        </p:nvSpPr>
        <p:spPr>
          <a:xfrm>
            <a:off x="566928" y="4160520"/>
            <a:ext cx="3520440" cy="1783080"/>
          </a:xfrm>
          <a:prstGeom prst="roundRect">
            <a:avLst>
              <a:gd name="adj" fmla="val 4615"/>
            </a:avLst>
          </a:prstGeom>
          <a:solidFill>
            <a:srgbClr val="1F4A36"/>
          </a:solidFill>
          <a:ln/>
        </p:spPr>
      </p:sp>
      <p:sp>
        <p:nvSpPr>
          <p:cNvPr id="8" name="Text 5"/>
          <p:cNvSpPr/>
          <p:nvPr/>
        </p:nvSpPr>
        <p:spPr>
          <a:xfrm>
            <a:off x="822960" y="4343400"/>
            <a:ext cx="3017520" cy="685800"/>
          </a:xfrm>
          <a:prstGeom prst="rect">
            <a:avLst/>
          </a:prstGeom>
          <a:noFill/>
          <a:ln/>
        </p:spPr>
        <p:txBody>
          <a:bodyPr wrap="square" lIns="0" tIns="0" rIns="0" bIns="0" rtlCol="0" anchor="ctr"/>
          <a:lstStyle/>
          <a:p>
            <a:pPr indent="0" marL="0">
              <a:buNone/>
            </a:pPr>
            <a:r>
              <a:rPr lang="en-US" sz="3400" b="1" dirty="0">
                <a:solidFill>
                  <a:srgbClr val="E0A526"/>
                </a:solidFill>
                <a:latin typeface="Cambria" pitchFamily="34" charset="0"/>
                <a:ea typeface="Cambria" pitchFamily="34" charset="-122"/>
                <a:cs typeface="Cambria" pitchFamily="34" charset="-120"/>
              </a:rPr>
              <a:t>231.1 ¢</a:t>
            </a:r>
            <a:endParaRPr lang="en-US" sz="3400" dirty="0"/>
          </a:p>
        </p:txBody>
      </p:sp>
      <p:sp>
        <p:nvSpPr>
          <p:cNvPr id="9" name="Text 6"/>
          <p:cNvSpPr/>
          <p:nvPr/>
        </p:nvSpPr>
        <p:spPr>
          <a:xfrm>
            <a:off x="822960" y="5029200"/>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DCE9DF"/>
                </a:solidFill>
                <a:latin typeface="Calibri" pitchFamily="34" charset="0"/>
                <a:ea typeface="Calibri" pitchFamily="34" charset="-122"/>
                <a:cs typeface="Calibri" pitchFamily="34" charset="-120"/>
              </a:rPr>
              <a:t>SICOM TSR20 Sep settle, 20 Aug — +5.1% from the 14 Aug low</a:t>
            </a:r>
            <a:endParaRPr lang="en-US" sz="1200" dirty="0"/>
          </a:p>
        </p:txBody>
      </p:sp>
      <p:sp>
        <p:nvSpPr>
          <p:cNvPr id="10" name="Shape 7"/>
          <p:cNvSpPr/>
          <p:nvPr/>
        </p:nvSpPr>
        <p:spPr>
          <a:xfrm>
            <a:off x="4334256" y="4160520"/>
            <a:ext cx="3520440" cy="1783080"/>
          </a:xfrm>
          <a:prstGeom prst="roundRect">
            <a:avLst>
              <a:gd name="adj" fmla="val 4615"/>
            </a:avLst>
          </a:prstGeom>
          <a:solidFill>
            <a:srgbClr val="1F4A36"/>
          </a:solidFill>
          <a:ln/>
        </p:spPr>
      </p:sp>
      <p:sp>
        <p:nvSpPr>
          <p:cNvPr id="11" name="Text 8"/>
          <p:cNvSpPr/>
          <p:nvPr/>
        </p:nvSpPr>
        <p:spPr>
          <a:xfrm>
            <a:off x="4590288" y="4343400"/>
            <a:ext cx="3017520" cy="685800"/>
          </a:xfrm>
          <a:prstGeom prst="rect">
            <a:avLst/>
          </a:prstGeom>
          <a:noFill/>
          <a:ln/>
        </p:spPr>
        <p:txBody>
          <a:bodyPr wrap="square" lIns="0" tIns="0" rIns="0" bIns="0" rtlCol="0" anchor="ctr"/>
          <a:lstStyle/>
          <a:p>
            <a:pPr indent="0" marL="0">
              <a:buNone/>
            </a:pPr>
            <a:r>
              <a:rPr lang="en-US" sz="3400" b="1" dirty="0">
                <a:solidFill>
                  <a:srgbClr val="E0A526"/>
                </a:solidFill>
                <a:latin typeface="Cambria" pitchFamily="34" charset="0"/>
                <a:ea typeface="Cambria" pitchFamily="34" charset="-122"/>
                <a:cs typeface="Cambria" pitchFamily="34" charset="-120"/>
              </a:rPr>
              <a:t>3,002 t</a:t>
            </a:r>
            <a:endParaRPr lang="en-US" sz="3400" dirty="0"/>
          </a:p>
        </p:txBody>
      </p:sp>
      <p:sp>
        <p:nvSpPr>
          <p:cNvPr id="12" name="Text 9"/>
          <p:cNvSpPr/>
          <p:nvPr/>
        </p:nvSpPr>
        <p:spPr>
          <a:xfrm>
            <a:off x="4590288" y="5029200"/>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DCE9DF"/>
                </a:solidFill>
                <a:latin typeface="Calibri" pitchFamily="34" charset="0"/>
                <a:ea typeface="Calibri" pitchFamily="34" charset="-122"/>
                <a:cs typeface="Calibri" pitchFamily="34" charset="-120"/>
              </a:rPr>
              <a:t>OSE warehouse NR stock (10 Aug) — down 45% from the June peak</a:t>
            </a:r>
            <a:endParaRPr lang="en-US" sz="1200" dirty="0"/>
          </a:p>
        </p:txBody>
      </p:sp>
      <p:sp>
        <p:nvSpPr>
          <p:cNvPr id="13" name="Shape 10"/>
          <p:cNvSpPr/>
          <p:nvPr/>
        </p:nvSpPr>
        <p:spPr>
          <a:xfrm>
            <a:off x="8101584" y="4160520"/>
            <a:ext cx="3520440" cy="1783080"/>
          </a:xfrm>
          <a:prstGeom prst="roundRect">
            <a:avLst>
              <a:gd name="adj" fmla="val 4615"/>
            </a:avLst>
          </a:prstGeom>
          <a:solidFill>
            <a:srgbClr val="1F4A36"/>
          </a:solidFill>
          <a:ln/>
        </p:spPr>
      </p:sp>
      <p:sp>
        <p:nvSpPr>
          <p:cNvPr id="14" name="Text 11"/>
          <p:cNvSpPr/>
          <p:nvPr/>
        </p:nvSpPr>
        <p:spPr>
          <a:xfrm>
            <a:off x="8357616" y="4343400"/>
            <a:ext cx="3017520" cy="685800"/>
          </a:xfrm>
          <a:prstGeom prst="rect">
            <a:avLst/>
          </a:prstGeom>
          <a:noFill/>
          <a:ln/>
        </p:spPr>
        <p:txBody>
          <a:bodyPr wrap="square" lIns="0" tIns="0" rIns="0" bIns="0" rtlCol="0" anchor="ctr"/>
          <a:lstStyle/>
          <a:p>
            <a:pPr indent="0" marL="0">
              <a:buNone/>
            </a:pPr>
            <a:r>
              <a:rPr lang="en-US" sz="3400" b="1" dirty="0">
                <a:solidFill>
                  <a:srgbClr val="E0A526"/>
                </a:solidFill>
                <a:latin typeface="Cambria" pitchFamily="34" charset="0"/>
                <a:ea typeface="Cambria" pitchFamily="34" charset="-122"/>
                <a:cs typeface="Cambria" pitchFamily="34" charset="-120"/>
              </a:rPr>
              <a:t>¥40.5</a:t>
            </a:r>
            <a:endParaRPr lang="en-US" sz="3400" dirty="0"/>
          </a:p>
        </p:txBody>
      </p:sp>
      <p:sp>
        <p:nvSpPr>
          <p:cNvPr id="15" name="Text 12"/>
          <p:cNvSpPr/>
          <p:nvPr/>
        </p:nvSpPr>
        <p:spPr>
          <a:xfrm>
            <a:off x="8357616" y="5029200"/>
            <a:ext cx="3063240" cy="777240"/>
          </a:xfrm>
          <a:prstGeom prst="rect">
            <a:avLst/>
          </a:prstGeom>
          <a:noFill/>
          <a:ln/>
        </p:spPr>
        <p:txBody>
          <a:bodyPr wrap="square" lIns="0" tIns="0" rIns="0" bIns="0" rtlCol="0" anchor="ctr"/>
          <a:lstStyle/>
          <a:p>
            <a:pPr indent="0" marL="0">
              <a:lnSpc>
                <a:spcPct val="110000"/>
              </a:lnSpc>
              <a:buNone/>
            </a:pPr>
            <a:r>
              <a:rPr lang="en-US" sz="1200" dirty="0">
                <a:solidFill>
                  <a:srgbClr val="DCE9DF"/>
                </a:solidFill>
                <a:latin typeface="Calibri" pitchFamily="34" charset="0"/>
                <a:ea typeface="Calibri" pitchFamily="34" charset="-122"/>
                <a:cs typeface="Calibri" pitchFamily="34" charset="-120"/>
              </a:rPr>
              <a:t>OSE nearby backwardation, 20 Aug — widest on record (old: ¥32.9)</a:t>
            </a:r>
            <a:endParaRPr lang="en-US" sz="1200" dirty="0"/>
          </a:p>
        </p:txBody>
      </p:sp>
      <p:sp>
        <p:nvSpPr>
          <p:cNvPr id="16" name="Text 13"/>
          <p:cNvSpPr/>
          <p:nvPr/>
        </p:nvSpPr>
        <p:spPr>
          <a:xfrm>
            <a:off x="566928" y="6309360"/>
            <a:ext cx="11064240" cy="320040"/>
          </a:xfrm>
          <a:prstGeom prst="rect">
            <a:avLst/>
          </a:prstGeom>
          <a:noFill/>
          <a:ln/>
        </p:spPr>
        <p:txBody>
          <a:bodyPr wrap="square" lIns="0" tIns="0" rIns="0" bIns="0" rtlCol="0" anchor="ctr"/>
          <a:lstStyle/>
          <a:p>
            <a:pPr indent="0" marL="0">
              <a:buNone/>
            </a:pPr>
            <a:r>
              <a:rPr lang="en-US" sz="1050" dirty="0">
                <a:solidFill>
                  <a:srgbClr val="8FA697"/>
                </a:solidFill>
                <a:latin typeface="Calibri" pitchFamily="34" charset="0"/>
                <a:ea typeface="Calibri" pitchFamily="34" charset="-122"/>
                <a:cs typeface="Calibri" pitchFamily="34" charset="-120"/>
              </a:rPr>
              <a:t>Compiled from the desk's market-intelligence emails (Okachi, Phillip Nova, RTAS, China Rubber Team, weekly updates) · prepared 24 Aug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640080"/>
          </a:xfrm>
          <a:prstGeom prst="rect">
            <a:avLst/>
          </a:prstGeom>
          <a:noFill/>
          <a:ln/>
        </p:spPr>
        <p:txBody>
          <a:bodyPr wrap="square" lIns="0" tIns="0" rIns="0" bIns="0" rtlCol="0" anchor="ctr"/>
          <a:lstStyle/>
          <a:p>
            <a:pPr indent="0" marL="0">
              <a:buNone/>
            </a:pPr>
            <a:r>
              <a:rPr lang="en-US" sz="3400" b="1" dirty="0">
                <a:solidFill>
                  <a:srgbClr val="1F2A24"/>
                </a:solidFill>
                <a:latin typeface="Cambria" pitchFamily="34" charset="0"/>
                <a:ea typeface="Cambria" pitchFamily="34" charset="-122"/>
                <a:cs typeface="Cambria" pitchFamily="34" charset="-120"/>
              </a:rPr>
              <a:t>Futures: a V-shaped fortnight</a:t>
            </a:r>
            <a:endParaRPr lang="en-US" sz="34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500" dirty="0">
                <a:solidFill>
                  <a:srgbClr val="5C6B60"/>
                </a:solidFill>
                <a:latin typeface="Calibri" pitchFamily="34" charset="0"/>
                <a:ea typeface="Calibri" pitchFamily="34" charset="-122"/>
                <a:cs typeface="Calibri" pitchFamily="34" charset="-120"/>
              </a:rPr>
              <a:t>Week 1 washed out on demand fears — week 2 rallied on oil, a weaker dollar and the TOCOM squeeze</a:t>
            </a:r>
            <a:endParaRPr lang="en-US" sz="1500" dirty="0"/>
          </a:p>
        </p:txBody>
      </p:sp>
      <p:sp>
        <p:nvSpPr>
          <p:cNvPr id="4" name="Shape 2"/>
          <p:cNvSpPr/>
          <p:nvPr/>
        </p:nvSpPr>
        <p:spPr>
          <a:xfrm>
            <a:off x="566928" y="1554480"/>
            <a:ext cx="5852160" cy="3749040"/>
          </a:xfrm>
          <a:prstGeom prst="roundRect">
            <a:avLst>
              <a:gd name="adj" fmla="val 1951"/>
            </a:avLst>
          </a:prstGeom>
          <a:solidFill>
            <a:srgbClr val="EEF3EE"/>
          </a:solidFill>
          <a:ln/>
        </p:spPr>
      </p:sp>
      <p:graphicFrame>
        <p:nvGraphicFramePr>
          <p:cNvPr id="5" name="Chart 0" descr=""/>
          <p:cNvGraphicFramePr/>
          <p:nvPr/>
        </p:nvGraphicFramePr>
        <p:xfrm>
          <a:off x="777240" y="1783080"/>
          <a:ext cx="544068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20840" y="1554480"/>
            <a:ext cx="4892040" cy="1810512"/>
          </a:xfrm>
          <a:prstGeom prst="roundRect">
            <a:avLst>
              <a:gd name="adj" fmla="val 4040"/>
            </a:avLst>
          </a:prstGeom>
          <a:solidFill>
            <a:srgbClr val="EEF3EE"/>
          </a:solidFill>
          <a:ln/>
        </p:spPr>
      </p:sp>
      <p:sp>
        <p:nvSpPr>
          <p:cNvPr id="7" name="Text 4"/>
          <p:cNvSpPr/>
          <p:nvPr/>
        </p:nvSpPr>
        <p:spPr>
          <a:xfrm>
            <a:off x="6949440" y="1664208"/>
            <a:ext cx="4434840" cy="292608"/>
          </a:xfrm>
          <a:prstGeom prst="rect">
            <a:avLst/>
          </a:prstGeom>
          <a:noFill/>
          <a:ln/>
        </p:spPr>
        <p:txBody>
          <a:bodyPr wrap="square" lIns="0" tIns="0" rIns="0" bIns="0" rtlCol="0" anchor="ctr"/>
          <a:lstStyle/>
          <a:p>
            <a:pPr indent="0" marL="0">
              <a:buNone/>
            </a:pPr>
            <a:r>
              <a:rPr lang="en-US" sz="1250" b="1" spc="100" kern="0" dirty="0">
                <a:solidFill>
                  <a:srgbClr val="C1493B"/>
                </a:solidFill>
                <a:latin typeface="Calibri" pitchFamily="34" charset="0"/>
                <a:ea typeface="Calibri" pitchFamily="34" charset="-122"/>
                <a:cs typeface="Calibri" pitchFamily="34" charset="-120"/>
              </a:rPr>
              <a:t>WEEK 1 · 10–14 AUG — WASHOUT</a:t>
            </a:r>
            <a:endParaRPr lang="en-US" sz="1250" dirty="0"/>
          </a:p>
        </p:txBody>
      </p:sp>
      <p:sp>
        <p:nvSpPr>
          <p:cNvPr id="8" name="Text 5"/>
          <p:cNvSpPr/>
          <p:nvPr/>
        </p:nvSpPr>
        <p:spPr>
          <a:xfrm>
            <a:off x="6949440" y="1956816"/>
            <a:ext cx="4480560" cy="137160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Settled 219.8 Friday after a 222.2 peak; Songkhla USS fell 3.2 to 79.2 THB</a:t>
            </a:r>
            <a:endParaRPr lang="en-US" sz="1200" dirty="0"/>
          </a:p>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China Jul car sales –21.1% y/y (10th straight fall); Jul rubber imports –8.5%</a:t>
            </a:r>
            <a:endParaRPr lang="en-US" sz="1200" dirty="0"/>
          </a:p>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Malaysia Jun output +31.5% m/m; RAOT warned of more downside</a:t>
            </a:r>
            <a:endParaRPr lang="en-US" sz="1200" dirty="0"/>
          </a:p>
        </p:txBody>
      </p:sp>
      <p:sp>
        <p:nvSpPr>
          <p:cNvPr id="9" name="Shape 6"/>
          <p:cNvSpPr/>
          <p:nvPr/>
        </p:nvSpPr>
        <p:spPr>
          <a:xfrm>
            <a:off x="6720840" y="3493008"/>
            <a:ext cx="4892040" cy="1810512"/>
          </a:xfrm>
          <a:prstGeom prst="roundRect">
            <a:avLst>
              <a:gd name="adj" fmla="val 4040"/>
            </a:avLst>
          </a:prstGeom>
          <a:solidFill>
            <a:srgbClr val="EEF3EE"/>
          </a:solidFill>
          <a:ln/>
        </p:spPr>
      </p:sp>
      <p:sp>
        <p:nvSpPr>
          <p:cNvPr id="10" name="Text 7"/>
          <p:cNvSpPr/>
          <p:nvPr/>
        </p:nvSpPr>
        <p:spPr>
          <a:xfrm>
            <a:off x="6949440" y="3602736"/>
            <a:ext cx="4434840" cy="292608"/>
          </a:xfrm>
          <a:prstGeom prst="rect">
            <a:avLst/>
          </a:prstGeom>
          <a:noFill/>
          <a:ln/>
        </p:spPr>
        <p:txBody>
          <a:bodyPr wrap="square" lIns="0" tIns="0" rIns="0" bIns="0" rtlCol="0" anchor="ctr"/>
          <a:lstStyle/>
          <a:p>
            <a:pPr indent="0" marL="0">
              <a:buNone/>
            </a:pPr>
            <a:r>
              <a:rPr lang="en-US" sz="1250" b="1" spc="100" kern="0" dirty="0">
                <a:solidFill>
                  <a:srgbClr val="2D6A4F"/>
                </a:solidFill>
                <a:latin typeface="Calibri" pitchFamily="34" charset="0"/>
                <a:ea typeface="Calibri" pitchFamily="34" charset="-122"/>
                <a:cs typeface="Calibri" pitchFamily="34" charset="-120"/>
              </a:rPr>
              <a:t>WEEK 2 · 17–21 AUG — FIVE-DAY RALLY</a:t>
            </a:r>
            <a:endParaRPr lang="en-US" sz="1250" dirty="0"/>
          </a:p>
        </p:txBody>
      </p:sp>
      <p:sp>
        <p:nvSpPr>
          <p:cNvPr id="11" name="Text 8"/>
          <p:cNvSpPr/>
          <p:nvPr/>
        </p:nvSpPr>
        <p:spPr>
          <a:xfrm>
            <a:off x="6949440" y="3895344"/>
            <a:ext cx="4480560" cy="137160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US–Iran MOU expired: Hormuz nearly shut (≈3 vessels/day vs ~130); Brent 93.25</a:t>
            </a:r>
            <a:endParaRPr lang="en-US" sz="1200" dirty="0"/>
          </a:p>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Dollar index at 3-month lows; THB firmed 33.1 → 32.80</a:t>
            </a:r>
            <a:endParaRPr lang="en-US" sz="1200" dirty="0"/>
          </a:p>
          <a:p>
            <a:pPr marL="342900" indent="-342900">
              <a:lnSpc>
                <a:spcPct val="105000"/>
              </a:lnSpc>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TSR20 +11.3¢ off the low; OSE Jan ¥420.5 → 438.4; SHFE Jan 17,790 → 18,350</a:t>
            </a:r>
            <a:endParaRPr lang="en-US" sz="1200" dirty="0"/>
          </a:p>
        </p:txBody>
      </p:sp>
      <p:sp>
        <p:nvSpPr>
          <p:cNvPr id="12" name="Shape 9"/>
          <p:cNvSpPr/>
          <p:nvPr/>
        </p:nvSpPr>
        <p:spPr>
          <a:xfrm>
            <a:off x="566928" y="5577840"/>
            <a:ext cx="2606040" cy="868680"/>
          </a:xfrm>
          <a:prstGeom prst="roundRect">
            <a:avLst>
              <a:gd name="adj" fmla="val 7368"/>
            </a:avLst>
          </a:prstGeom>
          <a:solidFill>
            <a:srgbClr val="163A2A"/>
          </a:solidFill>
          <a:ln/>
        </p:spPr>
      </p:sp>
      <p:sp>
        <p:nvSpPr>
          <p:cNvPr id="13" name="Text 10"/>
          <p:cNvSpPr/>
          <p:nvPr/>
        </p:nvSpPr>
        <p:spPr>
          <a:xfrm>
            <a:off x="749808" y="5669280"/>
            <a:ext cx="2286000" cy="256032"/>
          </a:xfrm>
          <a:prstGeom prst="rect">
            <a:avLst/>
          </a:prstGeom>
          <a:noFill/>
          <a:ln/>
        </p:spPr>
        <p:txBody>
          <a:bodyPr wrap="square" lIns="0" tIns="0" rIns="0" bIns="0" rtlCol="0" anchor="ctr"/>
          <a:lstStyle/>
          <a:p>
            <a:pPr indent="0" marL="0">
              <a:buNone/>
            </a:pPr>
            <a:r>
              <a:rPr lang="en-US" sz="1050" dirty="0">
                <a:solidFill>
                  <a:srgbClr val="DCE9DF"/>
                </a:solidFill>
                <a:latin typeface="Calibri" pitchFamily="34" charset="0"/>
                <a:ea typeface="Calibri" pitchFamily="34" charset="-122"/>
                <a:cs typeface="Calibri" pitchFamily="34" charset="-120"/>
              </a:rPr>
              <a:t>OSE RSS3 Jan</a:t>
            </a:r>
            <a:endParaRPr lang="en-US" sz="1050" dirty="0"/>
          </a:p>
        </p:txBody>
      </p:sp>
      <p:sp>
        <p:nvSpPr>
          <p:cNvPr id="14" name="Text 11"/>
          <p:cNvSpPr/>
          <p:nvPr/>
        </p:nvSpPr>
        <p:spPr>
          <a:xfrm>
            <a:off x="749808" y="5916168"/>
            <a:ext cx="2331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¥438.4  </a:t>
            </a:r>
            <a:pPr indent="0" marL="0">
              <a:buNone/>
            </a:pPr>
            <a:r>
              <a:rPr lang="en-US" sz="1050" dirty="0">
                <a:solidFill>
                  <a:srgbClr val="E0A526"/>
                </a:solidFill>
                <a:latin typeface="Calibri" pitchFamily="34" charset="0"/>
                <a:ea typeface="Calibri" pitchFamily="34" charset="-122"/>
                <a:cs typeface="Calibri" pitchFamily="34" charset="-120"/>
              </a:rPr>
              <a:t>+4.3% w/w</a:t>
            </a:r>
            <a:endParaRPr lang="en-US" sz="1700" dirty="0"/>
          </a:p>
        </p:txBody>
      </p:sp>
      <p:sp>
        <p:nvSpPr>
          <p:cNvPr id="15" name="Shape 12"/>
          <p:cNvSpPr/>
          <p:nvPr/>
        </p:nvSpPr>
        <p:spPr>
          <a:xfrm>
            <a:off x="3355848" y="5577840"/>
            <a:ext cx="2606040" cy="868680"/>
          </a:xfrm>
          <a:prstGeom prst="roundRect">
            <a:avLst>
              <a:gd name="adj" fmla="val 7368"/>
            </a:avLst>
          </a:prstGeom>
          <a:solidFill>
            <a:srgbClr val="163A2A"/>
          </a:solidFill>
          <a:ln/>
        </p:spPr>
      </p:sp>
      <p:sp>
        <p:nvSpPr>
          <p:cNvPr id="16" name="Text 13"/>
          <p:cNvSpPr/>
          <p:nvPr/>
        </p:nvSpPr>
        <p:spPr>
          <a:xfrm>
            <a:off x="3538728" y="5669280"/>
            <a:ext cx="2286000" cy="256032"/>
          </a:xfrm>
          <a:prstGeom prst="rect">
            <a:avLst/>
          </a:prstGeom>
          <a:noFill/>
          <a:ln/>
        </p:spPr>
        <p:txBody>
          <a:bodyPr wrap="square" lIns="0" tIns="0" rIns="0" bIns="0" rtlCol="0" anchor="ctr"/>
          <a:lstStyle/>
          <a:p>
            <a:pPr indent="0" marL="0">
              <a:buNone/>
            </a:pPr>
            <a:r>
              <a:rPr lang="en-US" sz="1050" dirty="0">
                <a:solidFill>
                  <a:srgbClr val="DCE9DF"/>
                </a:solidFill>
                <a:latin typeface="Calibri" pitchFamily="34" charset="0"/>
                <a:ea typeface="Calibri" pitchFamily="34" charset="-122"/>
                <a:cs typeface="Calibri" pitchFamily="34" charset="-120"/>
              </a:rPr>
              <a:t>SHFE RU Jan</a:t>
            </a:r>
            <a:endParaRPr lang="en-US" sz="1050" dirty="0"/>
          </a:p>
        </p:txBody>
      </p:sp>
      <p:sp>
        <p:nvSpPr>
          <p:cNvPr id="17" name="Text 14"/>
          <p:cNvSpPr/>
          <p:nvPr/>
        </p:nvSpPr>
        <p:spPr>
          <a:xfrm>
            <a:off x="3538728" y="5916168"/>
            <a:ext cx="2331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18,350  </a:t>
            </a:r>
            <a:pPr indent="0" marL="0">
              <a:buNone/>
            </a:pPr>
            <a:r>
              <a:rPr lang="en-US" sz="1050" dirty="0">
                <a:solidFill>
                  <a:srgbClr val="E0A526"/>
                </a:solidFill>
                <a:latin typeface="Calibri" pitchFamily="34" charset="0"/>
                <a:ea typeface="Calibri" pitchFamily="34" charset="-122"/>
                <a:cs typeface="Calibri" pitchFamily="34" charset="-120"/>
              </a:rPr>
              <a:t>+3.1% w/w</a:t>
            </a:r>
            <a:endParaRPr lang="en-US" sz="1700" dirty="0"/>
          </a:p>
        </p:txBody>
      </p:sp>
      <p:sp>
        <p:nvSpPr>
          <p:cNvPr id="18" name="Shape 15"/>
          <p:cNvSpPr/>
          <p:nvPr/>
        </p:nvSpPr>
        <p:spPr>
          <a:xfrm>
            <a:off x="6144768" y="5577840"/>
            <a:ext cx="2606040" cy="868680"/>
          </a:xfrm>
          <a:prstGeom prst="roundRect">
            <a:avLst>
              <a:gd name="adj" fmla="val 7368"/>
            </a:avLst>
          </a:prstGeom>
          <a:solidFill>
            <a:srgbClr val="163A2A"/>
          </a:solidFill>
          <a:ln/>
        </p:spPr>
      </p:sp>
      <p:sp>
        <p:nvSpPr>
          <p:cNvPr id="19" name="Text 16"/>
          <p:cNvSpPr/>
          <p:nvPr/>
        </p:nvSpPr>
        <p:spPr>
          <a:xfrm>
            <a:off x="6327648" y="5669280"/>
            <a:ext cx="2286000" cy="256032"/>
          </a:xfrm>
          <a:prstGeom prst="rect">
            <a:avLst/>
          </a:prstGeom>
          <a:noFill/>
          <a:ln/>
        </p:spPr>
        <p:txBody>
          <a:bodyPr wrap="square" lIns="0" tIns="0" rIns="0" bIns="0" rtlCol="0" anchor="ctr"/>
          <a:lstStyle/>
          <a:p>
            <a:pPr indent="0" marL="0">
              <a:buNone/>
            </a:pPr>
            <a:r>
              <a:rPr lang="en-US" sz="1050" dirty="0">
                <a:solidFill>
                  <a:srgbClr val="DCE9DF"/>
                </a:solidFill>
                <a:latin typeface="Calibri" pitchFamily="34" charset="0"/>
                <a:ea typeface="Calibri" pitchFamily="34" charset="-122"/>
                <a:cs typeface="Calibri" pitchFamily="34" charset="-120"/>
              </a:rPr>
              <a:t>Brent crude</a:t>
            </a:r>
            <a:endParaRPr lang="en-US" sz="1050" dirty="0"/>
          </a:p>
        </p:txBody>
      </p:sp>
      <p:sp>
        <p:nvSpPr>
          <p:cNvPr id="20" name="Text 17"/>
          <p:cNvSpPr/>
          <p:nvPr/>
        </p:nvSpPr>
        <p:spPr>
          <a:xfrm>
            <a:off x="6327648" y="5916168"/>
            <a:ext cx="2331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$93.25  </a:t>
            </a:r>
            <a:pPr indent="0" marL="0">
              <a:buNone/>
            </a:pPr>
            <a:r>
              <a:rPr lang="en-US" sz="1050" dirty="0">
                <a:solidFill>
                  <a:srgbClr val="E0A526"/>
                </a:solidFill>
                <a:latin typeface="Calibri" pitchFamily="34" charset="0"/>
                <a:ea typeface="Calibri" pitchFamily="34" charset="-122"/>
                <a:cs typeface="Calibri" pitchFamily="34" charset="-120"/>
              </a:rPr>
              <a:t>4-wk high</a:t>
            </a:r>
            <a:endParaRPr lang="en-US" sz="1700" dirty="0"/>
          </a:p>
        </p:txBody>
      </p:sp>
      <p:sp>
        <p:nvSpPr>
          <p:cNvPr id="21" name="Shape 18"/>
          <p:cNvSpPr/>
          <p:nvPr/>
        </p:nvSpPr>
        <p:spPr>
          <a:xfrm>
            <a:off x="8933688" y="5577840"/>
            <a:ext cx="2606040" cy="868680"/>
          </a:xfrm>
          <a:prstGeom prst="roundRect">
            <a:avLst>
              <a:gd name="adj" fmla="val 7368"/>
            </a:avLst>
          </a:prstGeom>
          <a:solidFill>
            <a:srgbClr val="163A2A"/>
          </a:solidFill>
          <a:ln/>
        </p:spPr>
      </p:sp>
      <p:sp>
        <p:nvSpPr>
          <p:cNvPr id="22" name="Text 19"/>
          <p:cNvSpPr/>
          <p:nvPr/>
        </p:nvSpPr>
        <p:spPr>
          <a:xfrm>
            <a:off x="9116568" y="5669280"/>
            <a:ext cx="2286000" cy="256032"/>
          </a:xfrm>
          <a:prstGeom prst="rect">
            <a:avLst/>
          </a:prstGeom>
          <a:noFill/>
          <a:ln/>
        </p:spPr>
        <p:txBody>
          <a:bodyPr wrap="square" lIns="0" tIns="0" rIns="0" bIns="0" rtlCol="0" anchor="ctr"/>
          <a:lstStyle/>
          <a:p>
            <a:pPr indent="0" marL="0">
              <a:buNone/>
            </a:pPr>
            <a:r>
              <a:rPr lang="en-US" sz="1050" dirty="0">
                <a:solidFill>
                  <a:srgbClr val="DCE9DF"/>
                </a:solidFill>
                <a:latin typeface="Calibri" pitchFamily="34" charset="0"/>
                <a:ea typeface="Calibri" pitchFamily="34" charset="-122"/>
                <a:cs typeface="Calibri" pitchFamily="34" charset="-120"/>
              </a:rPr>
              <a:t>USD/THB</a:t>
            </a:r>
            <a:endParaRPr lang="en-US" sz="1050" dirty="0"/>
          </a:p>
        </p:txBody>
      </p:sp>
      <p:sp>
        <p:nvSpPr>
          <p:cNvPr id="23" name="Text 20"/>
          <p:cNvSpPr/>
          <p:nvPr/>
        </p:nvSpPr>
        <p:spPr>
          <a:xfrm>
            <a:off x="9116568" y="5916168"/>
            <a:ext cx="2331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32.80  </a:t>
            </a:r>
            <a:pPr indent="0" marL="0">
              <a:buNone/>
            </a:pPr>
            <a:r>
              <a:rPr lang="en-US" sz="1050" dirty="0">
                <a:solidFill>
                  <a:srgbClr val="E0A526"/>
                </a:solidFill>
                <a:latin typeface="Calibri" pitchFamily="34" charset="0"/>
                <a:ea typeface="Calibri" pitchFamily="34" charset="-122"/>
                <a:cs typeface="Calibri" pitchFamily="34" charset="-120"/>
              </a:rPr>
              <a:t>THB firming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640080"/>
          </a:xfrm>
          <a:prstGeom prst="rect">
            <a:avLst/>
          </a:prstGeom>
          <a:noFill/>
          <a:ln/>
        </p:spPr>
        <p:txBody>
          <a:bodyPr wrap="square" lIns="0" tIns="0" rIns="0" bIns="0" rtlCol="0" anchor="ctr"/>
          <a:lstStyle/>
          <a:p>
            <a:pPr indent="0" marL="0">
              <a:buNone/>
            </a:pPr>
            <a:r>
              <a:rPr lang="en-US" sz="3400" b="1" dirty="0">
                <a:solidFill>
                  <a:srgbClr val="1F2A24"/>
                </a:solidFill>
                <a:latin typeface="Cambria" pitchFamily="34" charset="0"/>
                <a:ea typeface="Cambria" pitchFamily="34" charset="-122"/>
                <a:cs typeface="Cambria" pitchFamily="34" charset="-120"/>
              </a:rPr>
              <a:t>Thai physical: raw materials firm off the lows</a:t>
            </a:r>
            <a:endParaRPr lang="en-US" sz="34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500" dirty="0">
                <a:solidFill>
                  <a:srgbClr val="5C6B60"/>
                </a:solidFill>
                <a:latin typeface="Calibri" pitchFamily="34" charset="0"/>
                <a:ea typeface="Calibri" pitchFamily="34" charset="-122"/>
                <a:cs typeface="Calibri" pitchFamily="34" charset="-120"/>
              </a:rPr>
              <a:t>After the 6–14 Aug slide, every grade stabilised or rose through 17–21 Aug; latex led the recovery</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6126480" cy="914400"/>
        </p:xfrm>
        <a:graphic>
          <a:graphicData uri="http://schemas.openxmlformats.org/drawingml/2006/table">
            <a:tbl>
              <a:tblPr/>
              <a:tblGrid>
                <a:gridCol w="2286000"/>
                <a:gridCol w="1325880"/>
                <a:gridCol w="1417320"/>
                <a:gridCol w="1097280"/>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Grade (THB/kg)</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2D6A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10–14 Aug</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2D6A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17–21 Aug</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2D6A4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2D6A4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USS auction (Songkhla)</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82.4 → 79.2</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81.1 – 81.3</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D6A4F"/>
                          </a:solidFill>
                          <a:latin typeface="Calibri" pitchFamily="34" charset="0"/>
                          <a:ea typeface="Calibri" pitchFamily="34" charset="-122"/>
                          <a:cs typeface="Calibri" pitchFamily="34" charset="-120"/>
                        </a:rPr>
                        <a:t>stabilised</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RSS3 (Songkhla)</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84.0</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83.7 – 84.3</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5C6B60"/>
                          </a:solidFill>
                          <a:latin typeface="Calibri" pitchFamily="34" charset="0"/>
                          <a:ea typeface="Calibri" pitchFamily="34" charset="-122"/>
                          <a:cs typeface="Calibri" pitchFamily="34" charset="-120"/>
                        </a:rPr>
                        <a:t>steady</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Cup lump (93 pts avg)</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65.2</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65.45 → 66.30</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D6A4F"/>
                          </a:solidFill>
                          <a:latin typeface="Calibri" pitchFamily="34" charset="0"/>
                          <a:ea typeface="Calibri" pitchFamily="34" charset="-122"/>
                          <a:cs typeface="Calibri" pitchFamily="34" charset="-120"/>
                        </a:rPr>
                        <a:t>▲ 5 sessions</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Field latex (south)</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71 – 73</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72 – 75</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D6A4F"/>
                          </a:solidFill>
                          <a:latin typeface="Calibri" pitchFamily="34" charset="0"/>
                          <a:ea typeface="Calibri" pitchFamily="34" charset="-122"/>
                          <a:cs typeface="Calibri" pitchFamily="34" charset="-120"/>
                        </a:rPr>
                        <a:t>▲ ~1.0</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Latex 60% conc. (intl)</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55.7</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55.69 → 57.11</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E0A526"/>
                          </a:solidFill>
                          <a:latin typeface="Calibri" pitchFamily="34" charset="0"/>
                          <a:ea typeface="Calibri" pitchFamily="34" charset="-122"/>
                          <a:cs typeface="Calibri" pitchFamily="34" charset="-120"/>
                        </a:rPr>
                        <a:t>▲ 1.42</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Factory USS buying</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A24"/>
                          </a:solidFill>
                          <a:latin typeface="Calibri" pitchFamily="34" charset="0"/>
                          <a:ea typeface="Calibri" pitchFamily="34" charset="-122"/>
                          <a:cs typeface="Calibri" pitchFamily="34" charset="-120"/>
                        </a:rPr>
                        <a:t>73.0 – 75.8</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5C6B60"/>
                          </a:solidFill>
                          <a:latin typeface="Calibri" pitchFamily="34" charset="0"/>
                          <a:ea typeface="Calibri" pitchFamily="34" charset="-122"/>
                          <a:cs typeface="Calibri" pitchFamily="34" charset="-120"/>
                        </a:rPr>
                        <a:t>most 74–75</a:t>
                      </a:r>
                      <a:endParaRPr lang="en-US" sz="1150" dirty="0">
                        <a:latin typeface="Calibri" charset="0"/>
                        <a:ea typeface="Calibri" charset="0"/>
                        <a:cs typeface="Calibri" charset="0"/>
                      </a:endParaRPr>
                    </a:p>
                  </a:txBody>
                  <a:tcPr marL="54864" marR="54864" marT="54864" marB="54864" anchor="ctr">
                    <a:lnL w="9525" cap="flat" cmpd="sng" algn="ctr">
                      <a:solidFill>
                        <a:srgbClr val="D7E0D9"/>
                      </a:solidFill>
                      <a:prstDash val="solid"/>
                      <a:round/>
                      <a:headEnd type="none" w="med" len="med"/>
                      <a:tailEnd type="none" w="med" len="med"/>
                    </a:lnL>
                    <a:lnR w="9525" cap="flat" cmpd="sng" algn="ctr">
                      <a:solidFill>
                        <a:srgbClr val="D7E0D9"/>
                      </a:solidFill>
                      <a:prstDash val="solid"/>
                      <a:round/>
                      <a:headEnd type="none" w="med" len="med"/>
                      <a:tailEnd type="none" w="med" len="med"/>
                    </a:lnR>
                    <a:lnT w="9525" cap="flat" cmpd="sng" algn="ctr">
                      <a:solidFill>
                        <a:srgbClr val="D7E0D9"/>
                      </a:solidFill>
                      <a:prstDash val="solid"/>
                      <a:round/>
                      <a:headEnd type="none" w="med" len="med"/>
                      <a:tailEnd type="none" w="med" len="med"/>
                    </a:lnT>
                    <a:lnB w="9525" cap="flat" cmpd="sng" algn="ctr">
                      <a:solidFill>
                        <a:srgbClr val="D7E0D9"/>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166360"/>
            <a:ext cx="6126480" cy="548640"/>
          </a:xfrm>
          <a:prstGeom prst="rect">
            <a:avLst/>
          </a:prstGeom>
          <a:noFill/>
          <a:ln/>
        </p:spPr>
        <p:txBody>
          <a:bodyPr wrap="square" lIns="0" tIns="0" rIns="0" bIns="0" rtlCol="0" anchor="ctr"/>
          <a:lstStyle/>
          <a:p>
            <a:pPr indent="0" marL="0">
              <a:lnSpc>
                <a:spcPct val="110000"/>
              </a:lnSpc>
              <a:buNone/>
            </a:pPr>
            <a:r>
              <a:rPr lang="en-US" sz="1200" i="1" dirty="0">
                <a:solidFill>
                  <a:srgbClr val="5C6B60"/>
                </a:solidFill>
                <a:latin typeface="Calibri" pitchFamily="34" charset="0"/>
                <a:ea typeface="Calibri" pitchFamily="34" charset="-122"/>
                <a:cs typeface="Calibri" pitchFamily="34" charset="-120"/>
              </a:rPr>
              <a:t>Central-market RSS volume hit a weekly high of 488 t on Fri 21 Aug — arrivals are catching up.</a:t>
            </a:r>
            <a:endParaRPr lang="en-US" sz="1200" dirty="0"/>
          </a:p>
        </p:txBody>
      </p:sp>
      <p:sp>
        <p:nvSpPr>
          <p:cNvPr id="6" name="Shape 3"/>
          <p:cNvSpPr/>
          <p:nvPr/>
        </p:nvSpPr>
        <p:spPr>
          <a:xfrm>
            <a:off x="6949440" y="1600200"/>
            <a:ext cx="4663440" cy="1417320"/>
          </a:xfrm>
          <a:prstGeom prst="roundRect">
            <a:avLst>
              <a:gd name="adj" fmla="val 5161"/>
            </a:avLst>
          </a:prstGeom>
          <a:solidFill>
            <a:srgbClr val="EEF3EE"/>
          </a:solidFill>
          <a:ln/>
        </p:spPr>
      </p:sp>
      <p:sp>
        <p:nvSpPr>
          <p:cNvPr id="7" name="Shape 4"/>
          <p:cNvSpPr/>
          <p:nvPr/>
        </p:nvSpPr>
        <p:spPr>
          <a:xfrm>
            <a:off x="7150608" y="1984248"/>
            <a:ext cx="603504" cy="603504"/>
          </a:xfrm>
          <a:prstGeom prst="ellipse">
            <a:avLst/>
          </a:prstGeom>
          <a:solidFill>
            <a:srgbClr val="2D6A4F"/>
          </a:solidFill>
          <a:ln/>
        </p:spPr>
      </p:sp>
      <p:pic>
        <p:nvPicPr>
          <p:cNvPr id="8" name="Image 0" descr="preencoded.png">    </p:cNvPr>
          <p:cNvPicPr>
            <a:picLocks noChangeAspect="1"/>
          </p:cNvPicPr>
          <p:nvPr/>
        </p:nvPicPr>
        <p:blipFill>
          <a:blip r:embed="rId1"/>
          <a:stretch>
            <a:fillRect/>
          </a:stretch>
        </p:blipFill>
        <p:spPr>
          <a:xfrm>
            <a:off x="7295449" y="2129089"/>
            <a:ext cx="313822" cy="313822"/>
          </a:xfrm>
          <a:prstGeom prst="rect">
            <a:avLst/>
          </a:prstGeom>
        </p:spPr>
      </p:pic>
      <p:sp>
        <p:nvSpPr>
          <p:cNvPr id="9" name="Text 5"/>
          <p:cNvSpPr/>
          <p:nvPr/>
        </p:nvSpPr>
        <p:spPr>
          <a:xfrm>
            <a:off x="7909560" y="1719072"/>
            <a:ext cx="361188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Monsoon disruption</a:t>
            </a:r>
            <a:endParaRPr lang="en-US" sz="1350" dirty="0"/>
          </a:p>
        </p:txBody>
      </p:sp>
      <p:sp>
        <p:nvSpPr>
          <p:cNvPr id="10" name="Text 6"/>
          <p:cNvSpPr/>
          <p:nvPr/>
        </p:nvSpPr>
        <p:spPr>
          <a:xfrm>
            <a:off x="7909560" y="2011680"/>
            <a:ext cx="3611880" cy="96012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Nationwide heavy-rain warnings 17–21 Aug; flood and mudslide alerts across the southern producing belt. Short-term supply support, but flood risk needs watching.</a:t>
            </a:r>
            <a:endParaRPr lang="en-US" sz="1080" dirty="0"/>
          </a:p>
        </p:txBody>
      </p:sp>
      <p:sp>
        <p:nvSpPr>
          <p:cNvPr id="11" name="Shape 7"/>
          <p:cNvSpPr/>
          <p:nvPr/>
        </p:nvSpPr>
        <p:spPr>
          <a:xfrm>
            <a:off x="6949440" y="3172968"/>
            <a:ext cx="4663440" cy="1417320"/>
          </a:xfrm>
          <a:prstGeom prst="roundRect">
            <a:avLst>
              <a:gd name="adj" fmla="val 5161"/>
            </a:avLst>
          </a:prstGeom>
          <a:solidFill>
            <a:srgbClr val="EEF3EE"/>
          </a:solidFill>
          <a:ln/>
        </p:spPr>
      </p:sp>
      <p:sp>
        <p:nvSpPr>
          <p:cNvPr id="12" name="Shape 8"/>
          <p:cNvSpPr/>
          <p:nvPr/>
        </p:nvSpPr>
        <p:spPr>
          <a:xfrm>
            <a:off x="7150608" y="3557016"/>
            <a:ext cx="603504" cy="603504"/>
          </a:xfrm>
          <a:prstGeom prst="ellipse">
            <a:avLst/>
          </a:prstGeom>
          <a:solidFill>
            <a:srgbClr val="2D6A4F"/>
          </a:solidFill>
          <a:ln/>
        </p:spPr>
      </p:sp>
      <p:pic>
        <p:nvPicPr>
          <p:cNvPr id="13" name="Image 1" descr="preencoded.png">    </p:cNvPr>
          <p:cNvPicPr>
            <a:picLocks noChangeAspect="1"/>
          </p:cNvPicPr>
          <p:nvPr/>
        </p:nvPicPr>
        <p:blipFill>
          <a:blip r:embed="rId2"/>
          <a:stretch>
            <a:fillRect/>
          </a:stretch>
        </p:blipFill>
        <p:spPr>
          <a:xfrm>
            <a:off x="7295449" y="3701857"/>
            <a:ext cx="313822" cy="313822"/>
          </a:xfrm>
          <a:prstGeom prst="rect">
            <a:avLst/>
          </a:prstGeom>
        </p:spPr>
      </p:pic>
      <p:sp>
        <p:nvSpPr>
          <p:cNvPr id="14" name="Text 9"/>
          <p:cNvSpPr/>
          <p:nvPr/>
        </p:nvSpPr>
        <p:spPr>
          <a:xfrm>
            <a:off x="7909560" y="3291840"/>
            <a:ext cx="361188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Supply re-engaging</a:t>
            </a:r>
            <a:endParaRPr lang="en-US" sz="1350" dirty="0"/>
          </a:p>
        </p:txBody>
      </p:sp>
      <p:sp>
        <p:nvSpPr>
          <p:cNvPr id="15" name="Text 10"/>
          <p:cNvSpPr/>
          <p:nvPr/>
        </p:nvSpPr>
        <p:spPr>
          <a:xfrm>
            <a:off x="7909560" y="3584448"/>
            <a:ext cx="3611880" cy="96012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Producers more active into the new trading season; central-market volumes rising. RSS export offers now 271 lowest, most at 275–280 US¢.</a:t>
            </a:r>
            <a:endParaRPr lang="en-US" sz="1080" dirty="0"/>
          </a:p>
        </p:txBody>
      </p:sp>
      <p:sp>
        <p:nvSpPr>
          <p:cNvPr id="16" name="Shape 11"/>
          <p:cNvSpPr/>
          <p:nvPr/>
        </p:nvSpPr>
        <p:spPr>
          <a:xfrm>
            <a:off x="6949440" y="4745736"/>
            <a:ext cx="4663440" cy="1417320"/>
          </a:xfrm>
          <a:prstGeom prst="roundRect">
            <a:avLst>
              <a:gd name="adj" fmla="val 5161"/>
            </a:avLst>
          </a:prstGeom>
          <a:solidFill>
            <a:srgbClr val="EEF3EE"/>
          </a:solidFill>
          <a:ln/>
        </p:spPr>
      </p:sp>
      <p:sp>
        <p:nvSpPr>
          <p:cNvPr id="17" name="Shape 12"/>
          <p:cNvSpPr/>
          <p:nvPr/>
        </p:nvSpPr>
        <p:spPr>
          <a:xfrm>
            <a:off x="7150608" y="5129784"/>
            <a:ext cx="603504" cy="603504"/>
          </a:xfrm>
          <a:prstGeom prst="ellipse">
            <a:avLst/>
          </a:prstGeom>
          <a:solidFill>
            <a:srgbClr val="2D6A4F"/>
          </a:solidFill>
          <a:ln/>
        </p:spPr>
      </p:sp>
      <p:pic>
        <p:nvPicPr>
          <p:cNvPr id="18" name="Image 2" descr="preencoded.png">    </p:cNvPr>
          <p:cNvPicPr>
            <a:picLocks noChangeAspect="1"/>
          </p:cNvPicPr>
          <p:nvPr/>
        </p:nvPicPr>
        <p:blipFill>
          <a:blip r:embed="rId3"/>
          <a:stretch>
            <a:fillRect/>
          </a:stretch>
        </p:blipFill>
        <p:spPr>
          <a:xfrm>
            <a:off x="7295449" y="5274625"/>
            <a:ext cx="313822" cy="313822"/>
          </a:xfrm>
          <a:prstGeom prst="rect">
            <a:avLst/>
          </a:prstGeom>
        </p:spPr>
      </p:pic>
      <p:sp>
        <p:nvSpPr>
          <p:cNvPr id="19" name="Text 13"/>
          <p:cNvSpPr/>
          <p:nvPr/>
        </p:nvSpPr>
        <p:spPr>
          <a:xfrm>
            <a:off x="7909560" y="4864608"/>
            <a:ext cx="361188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FX: THB firming</a:t>
            </a:r>
            <a:endParaRPr lang="en-US" sz="1350" dirty="0"/>
          </a:p>
        </p:txBody>
      </p:sp>
      <p:sp>
        <p:nvSpPr>
          <p:cNvPr id="20" name="Text 14"/>
          <p:cNvSpPr/>
          <p:nvPr/>
        </p:nvSpPr>
        <p:spPr>
          <a:xfrm>
            <a:off x="7909560" y="5157216"/>
            <a:ext cx="3611880" cy="96012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Baht strengthened 33.1 → 32.80/USD through the rally week — supports local prices but caps export margin upside.</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972800" cy="640080"/>
          </a:xfrm>
          <a:prstGeom prst="rect">
            <a:avLst/>
          </a:prstGeom>
          <a:noFill/>
          <a:ln/>
        </p:spPr>
        <p:txBody>
          <a:bodyPr wrap="square" lIns="0" tIns="0" rIns="0" bIns="0" rtlCol="0" anchor="ctr"/>
          <a:lstStyle/>
          <a:p>
            <a:pPr indent="0" marL="0">
              <a:buNone/>
            </a:pPr>
            <a:r>
              <a:rPr lang="en-US" sz="3400" b="1" dirty="0">
                <a:solidFill>
                  <a:srgbClr val="1F2A24"/>
                </a:solidFill>
                <a:latin typeface="Cambria" pitchFamily="34" charset="0"/>
                <a:ea typeface="Cambria" pitchFamily="34" charset="-122"/>
                <a:cs typeface="Cambria" pitchFamily="34" charset="-120"/>
              </a:rPr>
              <a:t>Situation change: the TOCOM squeeze tightens</a:t>
            </a:r>
            <a:endParaRPr lang="en-US" sz="34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500" dirty="0">
                <a:solidFill>
                  <a:srgbClr val="5C6B60"/>
                </a:solidFill>
                <a:latin typeface="Calibri" pitchFamily="34" charset="0"/>
                <a:ea typeface="Calibri" pitchFamily="34" charset="-122"/>
                <a:cs typeface="Calibri" pitchFamily="34" charset="-120"/>
              </a:rPr>
              <a:t>Exchange stocks near historic lows and record backwardation are reshaping Thai RSS flows</a:t>
            </a:r>
            <a:endParaRPr lang="en-US" sz="1500" dirty="0"/>
          </a:p>
        </p:txBody>
      </p:sp>
      <p:sp>
        <p:nvSpPr>
          <p:cNvPr id="4" name="Shape 2"/>
          <p:cNvSpPr/>
          <p:nvPr/>
        </p:nvSpPr>
        <p:spPr>
          <a:xfrm>
            <a:off x="566928" y="1554480"/>
            <a:ext cx="5577840" cy="3977640"/>
          </a:xfrm>
          <a:prstGeom prst="roundRect">
            <a:avLst>
              <a:gd name="adj" fmla="val 1839"/>
            </a:avLst>
          </a:prstGeom>
          <a:solidFill>
            <a:srgbClr val="EEF3EE"/>
          </a:solidFill>
          <a:ln/>
        </p:spPr>
      </p:sp>
      <p:graphicFrame>
        <p:nvGraphicFramePr>
          <p:cNvPr id="5" name="Chart 0" descr=""/>
          <p:cNvGraphicFramePr/>
          <p:nvPr/>
        </p:nvGraphicFramePr>
        <p:xfrm>
          <a:off x="777240" y="1783080"/>
          <a:ext cx="5166360" cy="3520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46520" y="1627632"/>
            <a:ext cx="566928" cy="566928"/>
          </a:xfrm>
          <a:prstGeom prst="ellipse">
            <a:avLst/>
          </a:prstGeom>
          <a:solidFill>
            <a:srgbClr val="163A2A"/>
          </a:solidFill>
          <a:ln/>
        </p:spPr>
      </p:sp>
      <p:pic>
        <p:nvPicPr>
          <p:cNvPr id="7" name="Image 0" descr="preencoded.png">    </p:cNvPr>
          <p:cNvPicPr>
            <a:picLocks noChangeAspect="1"/>
          </p:cNvPicPr>
          <p:nvPr/>
        </p:nvPicPr>
        <p:blipFill>
          <a:blip r:embed="rId2"/>
          <a:stretch>
            <a:fillRect/>
          </a:stretch>
        </p:blipFill>
        <p:spPr>
          <a:xfrm>
            <a:off x="6582583" y="1763695"/>
            <a:ext cx="294803" cy="294803"/>
          </a:xfrm>
          <a:prstGeom prst="rect">
            <a:avLst/>
          </a:prstGeom>
        </p:spPr>
      </p:pic>
      <p:sp>
        <p:nvSpPr>
          <p:cNvPr id="8" name="Text 4"/>
          <p:cNvSpPr/>
          <p:nvPr/>
        </p:nvSpPr>
        <p:spPr>
          <a:xfrm>
            <a:off x="7178040" y="1554480"/>
            <a:ext cx="448056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Stock down 45% — and still draining</a:t>
            </a:r>
            <a:endParaRPr lang="en-US" sz="1350" dirty="0"/>
          </a:p>
        </p:txBody>
      </p:sp>
      <p:sp>
        <p:nvSpPr>
          <p:cNvPr id="9" name="Text 5"/>
          <p:cNvSpPr/>
          <p:nvPr/>
        </p:nvSpPr>
        <p:spPr>
          <a:xfrm>
            <a:off x="7178040" y="1837944"/>
            <a:ext cx="4480560" cy="86868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3,002 t on 10 Aug vs 5,470 t June peak; deliverable RSS3 just 2,801 t. Outflow runs ~500 t/week against only ~400 t heard heading in — inventory stays critical.</a:t>
            </a:r>
            <a:endParaRPr lang="en-US" sz="1080" dirty="0"/>
          </a:p>
        </p:txBody>
      </p:sp>
      <p:sp>
        <p:nvSpPr>
          <p:cNvPr id="10" name="Shape 6"/>
          <p:cNvSpPr/>
          <p:nvPr/>
        </p:nvSpPr>
        <p:spPr>
          <a:xfrm>
            <a:off x="6446520" y="2871216"/>
            <a:ext cx="566928" cy="566928"/>
          </a:xfrm>
          <a:prstGeom prst="ellipse">
            <a:avLst/>
          </a:prstGeom>
          <a:solidFill>
            <a:srgbClr val="163A2A"/>
          </a:solidFill>
          <a:ln/>
        </p:spPr>
      </p:sp>
      <p:pic>
        <p:nvPicPr>
          <p:cNvPr id="11" name="Image 1" descr="preencoded.png">    </p:cNvPr>
          <p:cNvPicPr>
            <a:picLocks noChangeAspect="1"/>
          </p:cNvPicPr>
          <p:nvPr/>
        </p:nvPicPr>
        <p:blipFill>
          <a:blip r:embed="rId3"/>
          <a:stretch>
            <a:fillRect/>
          </a:stretch>
        </p:blipFill>
        <p:spPr>
          <a:xfrm>
            <a:off x="6582583" y="3007279"/>
            <a:ext cx="294803" cy="294803"/>
          </a:xfrm>
          <a:prstGeom prst="rect">
            <a:avLst/>
          </a:prstGeom>
        </p:spPr>
      </p:pic>
      <p:sp>
        <p:nvSpPr>
          <p:cNvPr id="12" name="Text 7"/>
          <p:cNvSpPr/>
          <p:nvPr/>
        </p:nvSpPr>
        <p:spPr>
          <a:xfrm>
            <a:off x="7178040" y="2798064"/>
            <a:ext cx="448056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Record backwardation punishes shorts</a:t>
            </a:r>
            <a:endParaRPr lang="en-US" sz="1350" dirty="0"/>
          </a:p>
        </p:txBody>
      </p:sp>
      <p:sp>
        <p:nvSpPr>
          <p:cNvPr id="13" name="Text 8"/>
          <p:cNvSpPr/>
          <p:nvPr/>
        </p:nvSpPr>
        <p:spPr>
          <a:xfrm>
            <a:off x="7178040" y="3081528"/>
            <a:ext cx="4480560" cy="86868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OSE nearby spread hit ¥40.5 on 20 Aug — the widest ever (previous record ¥32.9, Feb 2020). Rolling shorts forward is costly; Aug contract spiked to ¥478.9.</a:t>
            </a:r>
            <a:endParaRPr lang="en-US" sz="1080" dirty="0"/>
          </a:p>
        </p:txBody>
      </p:sp>
      <p:sp>
        <p:nvSpPr>
          <p:cNvPr id="14" name="Shape 9"/>
          <p:cNvSpPr/>
          <p:nvPr/>
        </p:nvSpPr>
        <p:spPr>
          <a:xfrm>
            <a:off x="6446520" y="4114800"/>
            <a:ext cx="566928" cy="566928"/>
          </a:xfrm>
          <a:prstGeom prst="ellipse">
            <a:avLst/>
          </a:prstGeom>
          <a:solidFill>
            <a:srgbClr val="163A2A"/>
          </a:solidFill>
          <a:ln/>
        </p:spPr>
      </p:sp>
      <p:pic>
        <p:nvPicPr>
          <p:cNvPr id="15" name="Image 2" descr="preencoded.png">    </p:cNvPr>
          <p:cNvPicPr>
            <a:picLocks noChangeAspect="1"/>
          </p:cNvPicPr>
          <p:nvPr/>
        </p:nvPicPr>
        <p:blipFill>
          <a:blip r:embed="rId4"/>
          <a:stretch>
            <a:fillRect/>
          </a:stretch>
        </p:blipFill>
        <p:spPr>
          <a:xfrm>
            <a:off x="6582583" y="4250863"/>
            <a:ext cx="294803" cy="294803"/>
          </a:xfrm>
          <a:prstGeom prst="rect">
            <a:avLst/>
          </a:prstGeom>
        </p:spPr>
      </p:pic>
      <p:sp>
        <p:nvSpPr>
          <p:cNvPr id="16" name="Text 10"/>
          <p:cNvSpPr/>
          <p:nvPr/>
        </p:nvSpPr>
        <p:spPr>
          <a:xfrm>
            <a:off x="7178040" y="4041648"/>
            <a:ext cx="448056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Thai RSS arbitrage to Japan opens</a:t>
            </a:r>
            <a:endParaRPr lang="en-US" sz="1350" dirty="0"/>
          </a:p>
        </p:txBody>
      </p:sp>
      <p:sp>
        <p:nvSpPr>
          <p:cNvPr id="17" name="Text 11"/>
          <p:cNvSpPr/>
          <p:nvPr/>
        </p:nvSpPr>
        <p:spPr>
          <a:xfrm>
            <a:off x="7178040" y="4325112"/>
            <a:ext cx="4480560" cy="86868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Thai RSS offers 271–280 US¢ vs TOCOM FOB ≈265–268 — the spread has narrowed sharply and traders are eyeing RSS shipments into Japan to relieve the squeeze.</a:t>
            </a:r>
            <a:endParaRPr lang="en-US" sz="1080" dirty="0"/>
          </a:p>
        </p:txBody>
      </p:sp>
      <p:sp>
        <p:nvSpPr>
          <p:cNvPr id="18" name="Shape 12"/>
          <p:cNvSpPr/>
          <p:nvPr/>
        </p:nvSpPr>
        <p:spPr>
          <a:xfrm>
            <a:off x="6446520" y="5358384"/>
            <a:ext cx="566928" cy="566928"/>
          </a:xfrm>
          <a:prstGeom prst="ellipse">
            <a:avLst/>
          </a:prstGeom>
          <a:solidFill>
            <a:srgbClr val="163A2A"/>
          </a:solidFill>
          <a:ln/>
        </p:spPr>
      </p:sp>
      <p:pic>
        <p:nvPicPr>
          <p:cNvPr id="19" name="Image 3" descr="preencoded.png">    </p:cNvPr>
          <p:cNvPicPr>
            <a:picLocks noChangeAspect="1"/>
          </p:cNvPicPr>
          <p:nvPr/>
        </p:nvPicPr>
        <p:blipFill>
          <a:blip r:embed="rId5"/>
          <a:stretch>
            <a:fillRect/>
          </a:stretch>
        </p:blipFill>
        <p:spPr>
          <a:xfrm>
            <a:off x="6582583" y="5494447"/>
            <a:ext cx="294803" cy="294803"/>
          </a:xfrm>
          <a:prstGeom prst="rect">
            <a:avLst/>
          </a:prstGeom>
        </p:spPr>
      </p:pic>
      <p:sp>
        <p:nvSpPr>
          <p:cNvPr id="20" name="Text 13"/>
          <p:cNvSpPr/>
          <p:nvPr/>
        </p:nvSpPr>
        <p:spPr>
          <a:xfrm>
            <a:off x="7178040" y="5285232"/>
            <a:ext cx="4480560" cy="292608"/>
          </a:xfrm>
          <a:prstGeom prst="rect">
            <a:avLst/>
          </a:prstGeom>
          <a:noFill/>
          <a:ln/>
        </p:spPr>
        <p:txBody>
          <a:bodyPr wrap="square" lIns="0" tIns="0" rIns="0" bIns="0" rtlCol="0" anchor="ctr"/>
          <a:lstStyle/>
          <a:p>
            <a:pPr indent="0" marL="0">
              <a:buNone/>
            </a:pPr>
            <a:r>
              <a:rPr lang="en-US" sz="1350" b="1" dirty="0">
                <a:solidFill>
                  <a:srgbClr val="1F2A24"/>
                </a:solidFill>
                <a:latin typeface="Calibri" pitchFamily="34" charset="0"/>
                <a:ea typeface="Calibri" pitchFamily="34" charset="-122"/>
                <a:cs typeface="Calibri" pitchFamily="34" charset="-120"/>
              </a:rPr>
              <a:t>STR producer economics still positive</a:t>
            </a:r>
            <a:endParaRPr lang="en-US" sz="1350" dirty="0"/>
          </a:p>
        </p:txBody>
      </p:sp>
      <p:sp>
        <p:nvSpPr>
          <p:cNvPr id="21" name="Text 14"/>
          <p:cNvSpPr/>
          <p:nvPr/>
        </p:nvSpPr>
        <p:spPr>
          <a:xfrm>
            <a:off x="7178040" y="5568696"/>
            <a:ext cx="4480560" cy="868680"/>
          </a:xfrm>
          <a:prstGeom prst="rect">
            <a:avLst/>
          </a:prstGeom>
          <a:noFill/>
          <a:ln/>
        </p:spPr>
        <p:txBody>
          <a:bodyPr wrap="square" lIns="0" tIns="0" rIns="0" bIns="0" rtlCol="0" anchor="ctr"/>
          <a:lstStyle/>
          <a:p>
            <a:pPr indent="0" marL="0">
              <a:lnSpc>
                <a:spcPct val="108000"/>
              </a:lnSpc>
              <a:buNone/>
            </a:pPr>
            <a:r>
              <a:rPr lang="en-US" sz="1080" dirty="0">
                <a:solidFill>
                  <a:srgbClr val="5C6B60"/>
                </a:solidFill>
                <a:latin typeface="Calibri" pitchFamily="34" charset="0"/>
                <a:ea typeface="Calibri" pitchFamily="34" charset="-122"/>
                <a:cs typeface="Calibri" pitchFamily="34" charset="-120"/>
              </a:rPr>
              <a:t>Cup lump 65–68 THB in the field while domestic tire makers pay ~73 THB — roughly 1 THB/kg producer margin after 4–5 THB domestic logistics.</a:t>
            </a:r>
            <a:endParaRPr lang="en-US" sz="1080" dirty="0"/>
          </a:p>
        </p:txBody>
      </p:sp>
      <p:sp>
        <p:nvSpPr>
          <p:cNvPr id="22" name="Text 15"/>
          <p:cNvSpPr/>
          <p:nvPr/>
        </p:nvSpPr>
        <p:spPr>
          <a:xfrm>
            <a:off x="566928" y="6446520"/>
            <a:ext cx="10972800" cy="274320"/>
          </a:xfrm>
          <a:prstGeom prst="rect">
            <a:avLst/>
          </a:prstGeom>
          <a:noFill/>
          <a:ln/>
        </p:spPr>
        <p:txBody>
          <a:bodyPr wrap="square" lIns="0" tIns="0" rIns="0" bIns="0" rtlCol="0" anchor="ctr"/>
          <a:lstStyle/>
          <a:p>
            <a:pPr indent="0" marL="0">
              <a:buNone/>
            </a:pPr>
            <a:r>
              <a:rPr lang="en-US" sz="1000" dirty="0">
                <a:solidFill>
                  <a:srgbClr val="9AA79E"/>
                </a:solidFill>
                <a:latin typeface="Calibri" pitchFamily="34" charset="0"/>
                <a:ea typeface="Calibri" pitchFamily="34" charset="-122"/>
                <a:cs typeface="Calibri" pitchFamily="34" charset="-120"/>
              </a:rPr>
              <a:t>Sources: Okachi Japan rubber stock reports (18 &amp; 20 Aug) · desk weekly updates 17 &amp; 23 Aug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A2A"/>
        </a:solidFill>
      </p:bgPr>
    </p:bg>
    <p:spTree>
      <p:nvGrpSpPr>
        <p:cNvPr id="1" name=""/>
        <p:cNvGrpSpPr/>
        <p:nvPr/>
      </p:nvGrpSpPr>
      <p:grpSpPr>
        <a:xfrm>
          <a:off x="0" y="0"/>
          <a:ext cx="0" cy="0"/>
          <a:chOff x="0" y="0"/>
          <a:chExt cx="0" cy="0"/>
        </a:xfrm>
      </p:grpSpPr>
      <p:sp>
        <p:nvSpPr>
          <p:cNvPr id="2" name="Text 0"/>
          <p:cNvSpPr/>
          <p:nvPr/>
        </p:nvSpPr>
        <p:spPr>
          <a:xfrm>
            <a:off x="566928" y="45720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Outlook &amp; watch list</a:t>
            </a:r>
            <a:endParaRPr lang="en-US" sz="3400" dirty="0"/>
          </a:p>
        </p:txBody>
      </p:sp>
      <p:sp>
        <p:nvSpPr>
          <p:cNvPr id="3" name="Text 1"/>
          <p:cNvSpPr/>
          <p:nvPr/>
        </p:nvSpPr>
        <p:spPr>
          <a:xfrm>
            <a:off x="566928" y="1097280"/>
            <a:ext cx="10972800" cy="365760"/>
          </a:xfrm>
          <a:prstGeom prst="rect">
            <a:avLst/>
          </a:prstGeom>
          <a:noFill/>
          <a:ln/>
        </p:spPr>
        <p:txBody>
          <a:bodyPr wrap="square" lIns="0" tIns="0" rIns="0" bIns="0" rtlCol="0" anchor="ctr"/>
          <a:lstStyle/>
          <a:p>
            <a:pPr indent="0" marL="0">
              <a:buNone/>
            </a:pPr>
            <a:r>
              <a:rPr lang="en-US" sz="1500" dirty="0">
                <a:solidFill>
                  <a:srgbClr val="DCE9DF"/>
                </a:solidFill>
                <a:latin typeface="Calibri" pitchFamily="34" charset="0"/>
                <a:ea typeface="Calibri" pitchFamily="34" charset="-122"/>
                <a:cs typeface="Calibri" pitchFamily="34" charset="-120"/>
              </a:rPr>
              <a:t>Constructive bias into the new trading season — but supply is catching up and macro events loom</a:t>
            </a:r>
            <a:endParaRPr lang="en-US" sz="1500" dirty="0"/>
          </a:p>
        </p:txBody>
      </p:sp>
      <p:sp>
        <p:nvSpPr>
          <p:cNvPr id="4" name="Shape 2"/>
          <p:cNvSpPr/>
          <p:nvPr/>
        </p:nvSpPr>
        <p:spPr>
          <a:xfrm>
            <a:off x="566928" y="1691640"/>
            <a:ext cx="5394960" cy="4114800"/>
          </a:xfrm>
          <a:prstGeom prst="roundRect">
            <a:avLst>
              <a:gd name="adj" fmla="val 2000"/>
            </a:avLst>
          </a:prstGeom>
          <a:solidFill>
            <a:srgbClr val="1F4A36"/>
          </a:solidFill>
          <a:ln/>
        </p:spPr>
      </p:sp>
      <p:sp>
        <p:nvSpPr>
          <p:cNvPr id="5" name="Shape 3"/>
          <p:cNvSpPr/>
          <p:nvPr/>
        </p:nvSpPr>
        <p:spPr>
          <a:xfrm>
            <a:off x="868680" y="1965960"/>
            <a:ext cx="640080" cy="640080"/>
          </a:xfrm>
          <a:prstGeom prst="ellipse">
            <a:avLst/>
          </a:prstGeom>
          <a:solidFill>
            <a:srgbClr val="E0A526"/>
          </a:solidFill>
          <a:ln/>
        </p:spPr>
      </p:sp>
      <p:pic>
        <p:nvPicPr>
          <p:cNvPr id="6" name="Image 0" descr="preencoded.png">    </p:cNvPr>
          <p:cNvPicPr>
            <a:picLocks noChangeAspect="1"/>
          </p:cNvPicPr>
          <p:nvPr/>
        </p:nvPicPr>
        <p:blipFill>
          <a:blip r:embed="rId1"/>
          <a:stretch>
            <a:fillRect/>
          </a:stretch>
        </p:blipFill>
        <p:spPr>
          <a:xfrm>
            <a:off x="1022299" y="2119579"/>
            <a:ext cx="332842" cy="332842"/>
          </a:xfrm>
          <a:prstGeom prst="rect">
            <a:avLst/>
          </a:prstGeom>
        </p:spPr>
      </p:pic>
      <p:sp>
        <p:nvSpPr>
          <p:cNvPr id="7" name="Text 4"/>
          <p:cNvSpPr/>
          <p:nvPr/>
        </p:nvSpPr>
        <p:spPr>
          <a:xfrm>
            <a:off x="1691640" y="2103120"/>
            <a:ext cx="40233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Desk positioning</a:t>
            </a:r>
            <a:endParaRPr lang="en-US" sz="1600" dirty="0"/>
          </a:p>
        </p:txBody>
      </p:sp>
      <p:sp>
        <p:nvSpPr>
          <p:cNvPr id="8" name="Text 5"/>
          <p:cNvSpPr/>
          <p:nvPr/>
        </p:nvSpPr>
        <p:spPr>
          <a:xfrm>
            <a:off x="914400" y="2834640"/>
            <a:ext cx="4754880" cy="283464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300" dirty="0">
                <a:solidFill>
                  <a:srgbClr val="DCE9DF"/>
                </a:solidFill>
                <a:latin typeface="Calibri" pitchFamily="34" charset="0"/>
                <a:ea typeface="Calibri" pitchFamily="34" charset="-122"/>
                <a:cs typeface="Calibri" pitchFamily="34" charset="-120"/>
              </a:rPr>
              <a:t>Went flat ahead of the 14 Aug washout; avoided the drawdown</a:t>
            </a:r>
            <a:endParaRPr lang="en-US" sz="1300" dirty="0"/>
          </a:p>
          <a:p>
            <a:pPr marL="342900" indent="-342900">
              <a:lnSpc>
                <a:spcPct val="110000"/>
              </a:lnSpc>
              <a:spcAft>
                <a:spcPts val="1000"/>
              </a:spcAft>
              <a:buSzPct val="100000"/>
              <a:buChar char="•"/>
            </a:pPr>
            <a:r>
              <a:rPr lang="en-US" sz="1300" dirty="0">
                <a:solidFill>
                  <a:srgbClr val="DCE9DF"/>
                </a:solidFill>
                <a:latin typeface="Calibri" pitchFamily="34" charset="0"/>
                <a:ea typeface="Calibri" pitchFamily="34" charset="-122"/>
                <a:cs typeface="Calibri" pitchFamily="34" charset="-120"/>
              </a:rPr>
              <a:t>Now actively screening producer offers — RSS grades first — for a new entry</a:t>
            </a:r>
            <a:endParaRPr lang="en-US" sz="1300" dirty="0"/>
          </a:p>
          <a:p>
            <a:pPr marL="342900" indent="-342900">
              <a:lnSpc>
                <a:spcPct val="110000"/>
              </a:lnSpc>
              <a:spcAft>
                <a:spcPts val="1000"/>
              </a:spcAft>
              <a:buSzPct val="100000"/>
              <a:buChar char="•"/>
            </a:pPr>
            <a:r>
              <a:rPr lang="en-US" sz="1300" dirty="0">
                <a:solidFill>
                  <a:srgbClr val="DCE9DF"/>
                </a:solidFill>
                <a:latin typeface="Calibri" pitchFamily="34" charset="0"/>
                <a:ea typeface="Calibri" pitchFamily="34" charset="-122"/>
                <a:cs typeface="Calibri" pitchFamily="34" charset="-120"/>
              </a:rPr>
              <a:t>Rally is macro- and squeeze-led: physical premiums have not kept pace, so entries need selectivity</a:t>
            </a:r>
            <a:endParaRPr lang="en-US" sz="1300" dirty="0"/>
          </a:p>
          <a:p>
            <a:pPr marL="342900" indent="-342900">
              <a:lnSpc>
                <a:spcPct val="110000"/>
              </a:lnSpc>
              <a:spcAft>
                <a:spcPts val="1000"/>
              </a:spcAft>
              <a:buSzPct val="100000"/>
              <a:buChar char="•"/>
            </a:pPr>
            <a:r>
              <a:rPr lang="en-US" sz="1300" dirty="0">
                <a:solidFill>
                  <a:srgbClr val="DCE9DF"/>
                </a:solidFill>
                <a:latin typeface="Calibri" pitchFamily="34" charset="0"/>
                <a:ea typeface="Calibri" pitchFamily="34" charset="-122"/>
                <a:cs typeface="Calibri" pitchFamily="34" charset="-120"/>
              </a:rPr>
              <a:t>Raw-material cost support intact; producers holding minimal volume</a:t>
            </a:r>
            <a:endParaRPr lang="en-US" sz="1300" dirty="0"/>
          </a:p>
        </p:txBody>
      </p:sp>
      <p:sp>
        <p:nvSpPr>
          <p:cNvPr id="9" name="Shape 6"/>
          <p:cNvSpPr/>
          <p:nvPr/>
        </p:nvSpPr>
        <p:spPr>
          <a:xfrm>
            <a:off x="6355080" y="1737360"/>
            <a:ext cx="512064" cy="512064"/>
          </a:xfrm>
          <a:prstGeom prst="ellipse">
            <a:avLst/>
          </a:prstGeom>
          <a:solidFill>
            <a:srgbClr val="2D6A4F"/>
          </a:solidFill>
          <a:ln/>
        </p:spPr>
      </p:sp>
      <p:pic>
        <p:nvPicPr>
          <p:cNvPr id="10" name="Image 1" descr="preencoded.png">    </p:cNvPr>
          <p:cNvPicPr>
            <a:picLocks noChangeAspect="1"/>
          </p:cNvPicPr>
          <p:nvPr/>
        </p:nvPicPr>
        <p:blipFill>
          <a:blip r:embed="rId2"/>
          <a:stretch>
            <a:fillRect/>
          </a:stretch>
        </p:blipFill>
        <p:spPr>
          <a:xfrm>
            <a:off x="6477975" y="1860255"/>
            <a:ext cx="266273" cy="266273"/>
          </a:xfrm>
          <a:prstGeom prst="rect">
            <a:avLst/>
          </a:prstGeom>
        </p:spPr>
      </p:pic>
      <p:sp>
        <p:nvSpPr>
          <p:cNvPr id="11" name="Text 7"/>
          <p:cNvSpPr/>
          <p:nvPr/>
        </p:nvSpPr>
        <p:spPr>
          <a:xfrm>
            <a:off x="7040880" y="1691640"/>
            <a:ext cx="4572000" cy="777240"/>
          </a:xfrm>
          <a:prstGeom prst="rect">
            <a:avLst/>
          </a:prstGeom>
          <a:noFill/>
          <a:ln/>
        </p:spPr>
        <p:txBody>
          <a:bodyPr wrap="square" lIns="0" tIns="0" rIns="0" bIns="0" rtlCol="0" anchor="t"/>
          <a:lstStyle/>
          <a:p>
            <a:pPr indent="0" marL="0">
              <a:lnSpc>
                <a:spcPct val="105000"/>
              </a:lnSpc>
              <a:buNone/>
            </a:pPr>
            <a:r>
              <a:rPr lang="en-US" sz="1350" b="1" dirty="0">
                <a:solidFill>
                  <a:srgbClr val="E0A526"/>
                </a:solidFill>
                <a:latin typeface="Calibri" pitchFamily="34" charset="0"/>
                <a:ea typeface="Calibri" pitchFamily="34" charset="-122"/>
                <a:cs typeface="Calibri" pitchFamily="34" charset="-120"/>
              </a:rPr>
              <a:t>TOCOM stock ≈3,000 t   </a:t>
            </a:r>
            <a:pPr indent="0" marL="0">
              <a:lnSpc>
                <a:spcPct val="105000"/>
              </a:lnSpc>
              <a:buNone/>
            </a:pPr>
            <a:r>
              <a:rPr lang="en-US" sz="1150" dirty="0">
                <a:solidFill>
                  <a:srgbClr val="DCE9DF"/>
                </a:solidFill>
                <a:latin typeface="Calibri" pitchFamily="34" charset="0"/>
                <a:ea typeface="Calibri" pitchFamily="34" charset="-122"/>
                <a:cs typeface="Calibri" pitchFamily="34" charset="-120"/>
              </a:rPr>
              <a:t>Any failure of inflows to offset ~500 t/week outflow extends the squeeze</a:t>
            </a:r>
            <a:endParaRPr lang="en-US" sz="1350" dirty="0"/>
          </a:p>
        </p:txBody>
      </p:sp>
      <p:sp>
        <p:nvSpPr>
          <p:cNvPr id="12" name="Shape 8"/>
          <p:cNvSpPr/>
          <p:nvPr/>
        </p:nvSpPr>
        <p:spPr>
          <a:xfrm>
            <a:off x="6355080" y="2578608"/>
            <a:ext cx="512064" cy="512064"/>
          </a:xfrm>
          <a:prstGeom prst="ellipse">
            <a:avLst/>
          </a:prstGeom>
          <a:solidFill>
            <a:srgbClr val="2D6A4F"/>
          </a:solidFill>
          <a:ln/>
        </p:spPr>
      </p:sp>
      <p:pic>
        <p:nvPicPr>
          <p:cNvPr id="13" name="Image 2" descr="preencoded.png">    </p:cNvPr>
          <p:cNvPicPr>
            <a:picLocks noChangeAspect="1"/>
          </p:cNvPicPr>
          <p:nvPr/>
        </p:nvPicPr>
        <p:blipFill>
          <a:blip r:embed="rId3"/>
          <a:stretch>
            <a:fillRect/>
          </a:stretch>
        </p:blipFill>
        <p:spPr>
          <a:xfrm>
            <a:off x="6477975" y="2701503"/>
            <a:ext cx="266273" cy="266273"/>
          </a:xfrm>
          <a:prstGeom prst="rect">
            <a:avLst/>
          </a:prstGeom>
        </p:spPr>
      </p:pic>
      <p:sp>
        <p:nvSpPr>
          <p:cNvPr id="14" name="Text 9"/>
          <p:cNvSpPr/>
          <p:nvPr/>
        </p:nvSpPr>
        <p:spPr>
          <a:xfrm>
            <a:off x="7040880" y="2532888"/>
            <a:ext cx="4572000" cy="777240"/>
          </a:xfrm>
          <a:prstGeom prst="rect">
            <a:avLst/>
          </a:prstGeom>
          <a:noFill/>
          <a:ln/>
        </p:spPr>
        <p:txBody>
          <a:bodyPr wrap="square" lIns="0" tIns="0" rIns="0" bIns="0" rtlCol="0" anchor="t"/>
          <a:lstStyle/>
          <a:p>
            <a:pPr indent="0" marL="0">
              <a:lnSpc>
                <a:spcPct val="105000"/>
              </a:lnSpc>
              <a:buNone/>
            </a:pPr>
            <a:r>
              <a:rPr lang="en-US" sz="1350" b="1" dirty="0">
                <a:solidFill>
                  <a:srgbClr val="E0A526"/>
                </a:solidFill>
                <a:latin typeface="Calibri" pitchFamily="34" charset="0"/>
                <a:ea typeface="Calibri" pitchFamily="34" charset="-122"/>
                <a:cs typeface="Calibri" pitchFamily="34" charset="-120"/>
              </a:rPr>
              <a:t>USS auction vs 81.5 THB   </a:t>
            </a:r>
            <a:pPr indent="0" marL="0">
              <a:lnSpc>
                <a:spcPct val="105000"/>
              </a:lnSpc>
              <a:buNone/>
            </a:pPr>
            <a:r>
              <a:rPr lang="en-US" sz="1150" dirty="0">
                <a:solidFill>
                  <a:srgbClr val="DCE9DF"/>
                </a:solidFill>
                <a:latin typeface="Calibri" pitchFamily="34" charset="0"/>
                <a:ea typeface="Calibri" pitchFamily="34" charset="-122"/>
                <a:cs typeface="Calibri" pitchFamily="34" charset="-120"/>
              </a:rPr>
              <a:t>A break above 81.5 would confirm the physical market joining the rally</a:t>
            </a:r>
            <a:endParaRPr lang="en-US" sz="1350" dirty="0"/>
          </a:p>
        </p:txBody>
      </p:sp>
      <p:sp>
        <p:nvSpPr>
          <p:cNvPr id="15" name="Shape 10"/>
          <p:cNvSpPr/>
          <p:nvPr/>
        </p:nvSpPr>
        <p:spPr>
          <a:xfrm>
            <a:off x="6355080" y="3419856"/>
            <a:ext cx="512064" cy="512064"/>
          </a:xfrm>
          <a:prstGeom prst="ellipse">
            <a:avLst/>
          </a:prstGeom>
          <a:solidFill>
            <a:srgbClr val="2D6A4F"/>
          </a:solidFill>
          <a:ln/>
        </p:spPr>
      </p:sp>
      <p:pic>
        <p:nvPicPr>
          <p:cNvPr id="16" name="Image 3" descr="preencoded.png">    </p:cNvPr>
          <p:cNvPicPr>
            <a:picLocks noChangeAspect="1"/>
          </p:cNvPicPr>
          <p:nvPr/>
        </p:nvPicPr>
        <p:blipFill>
          <a:blip r:embed="rId4"/>
          <a:stretch>
            <a:fillRect/>
          </a:stretch>
        </p:blipFill>
        <p:spPr>
          <a:xfrm>
            <a:off x="6477975" y="3542751"/>
            <a:ext cx="266273" cy="266273"/>
          </a:xfrm>
          <a:prstGeom prst="rect">
            <a:avLst/>
          </a:prstGeom>
        </p:spPr>
      </p:pic>
      <p:sp>
        <p:nvSpPr>
          <p:cNvPr id="17" name="Text 11"/>
          <p:cNvSpPr/>
          <p:nvPr/>
        </p:nvSpPr>
        <p:spPr>
          <a:xfrm>
            <a:off x="7040880" y="3374136"/>
            <a:ext cx="4572000" cy="777240"/>
          </a:xfrm>
          <a:prstGeom prst="rect">
            <a:avLst/>
          </a:prstGeom>
          <a:noFill/>
          <a:ln/>
        </p:spPr>
        <p:txBody>
          <a:bodyPr wrap="square" lIns="0" tIns="0" rIns="0" bIns="0" rtlCol="0" anchor="t"/>
          <a:lstStyle/>
          <a:p>
            <a:pPr indent="0" marL="0">
              <a:lnSpc>
                <a:spcPct val="105000"/>
              </a:lnSpc>
              <a:buNone/>
            </a:pPr>
            <a:r>
              <a:rPr lang="en-US" sz="1350" b="1" dirty="0">
                <a:solidFill>
                  <a:srgbClr val="E0A526"/>
                </a:solidFill>
                <a:latin typeface="Calibri" pitchFamily="34" charset="0"/>
                <a:ea typeface="Calibri" pitchFamily="34" charset="-122"/>
                <a:cs typeface="Calibri" pitchFamily="34" charset="-120"/>
              </a:rPr>
              <a:t>Hormuz / Middle East oil   </a:t>
            </a:r>
            <a:pPr indent="0" marL="0">
              <a:lnSpc>
                <a:spcPct val="105000"/>
              </a:lnSpc>
              <a:buNone/>
            </a:pPr>
            <a:r>
              <a:rPr lang="en-US" sz="1150" dirty="0">
                <a:solidFill>
                  <a:srgbClr val="DCE9DF"/>
                </a:solidFill>
                <a:latin typeface="Calibri" pitchFamily="34" charset="0"/>
                <a:ea typeface="Calibri" pitchFamily="34" charset="-122"/>
                <a:cs typeface="Calibri" pitchFamily="34" charset="-120"/>
              </a:rPr>
              <a:t>Brent at 93+ underpins rubber; de-escalation is the main downside risk</a:t>
            </a:r>
            <a:endParaRPr lang="en-US" sz="1350" dirty="0"/>
          </a:p>
        </p:txBody>
      </p:sp>
      <p:sp>
        <p:nvSpPr>
          <p:cNvPr id="18" name="Shape 12"/>
          <p:cNvSpPr/>
          <p:nvPr/>
        </p:nvSpPr>
        <p:spPr>
          <a:xfrm>
            <a:off x="6355080" y="4261104"/>
            <a:ext cx="512064" cy="512064"/>
          </a:xfrm>
          <a:prstGeom prst="ellipse">
            <a:avLst/>
          </a:prstGeom>
          <a:solidFill>
            <a:srgbClr val="2D6A4F"/>
          </a:solidFill>
          <a:ln/>
        </p:spPr>
      </p:sp>
      <p:pic>
        <p:nvPicPr>
          <p:cNvPr id="19" name="Image 4" descr="preencoded.png">    </p:cNvPr>
          <p:cNvPicPr>
            <a:picLocks noChangeAspect="1"/>
          </p:cNvPicPr>
          <p:nvPr/>
        </p:nvPicPr>
        <p:blipFill>
          <a:blip r:embed="rId5"/>
          <a:stretch>
            <a:fillRect/>
          </a:stretch>
        </p:blipFill>
        <p:spPr>
          <a:xfrm>
            <a:off x="6477975" y="4383999"/>
            <a:ext cx="266273" cy="266273"/>
          </a:xfrm>
          <a:prstGeom prst="rect">
            <a:avLst/>
          </a:prstGeom>
        </p:spPr>
      </p:pic>
      <p:sp>
        <p:nvSpPr>
          <p:cNvPr id="20" name="Text 13"/>
          <p:cNvSpPr/>
          <p:nvPr/>
        </p:nvSpPr>
        <p:spPr>
          <a:xfrm>
            <a:off x="7040880" y="4215384"/>
            <a:ext cx="4572000" cy="777240"/>
          </a:xfrm>
          <a:prstGeom prst="rect">
            <a:avLst/>
          </a:prstGeom>
          <a:noFill/>
          <a:ln/>
        </p:spPr>
        <p:txBody>
          <a:bodyPr wrap="square" lIns="0" tIns="0" rIns="0" bIns="0" rtlCol="0" anchor="t"/>
          <a:lstStyle/>
          <a:p>
            <a:pPr indent="0" marL="0">
              <a:lnSpc>
                <a:spcPct val="105000"/>
              </a:lnSpc>
              <a:buNone/>
            </a:pPr>
            <a:r>
              <a:rPr lang="en-US" sz="1350" b="1" dirty="0">
                <a:solidFill>
                  <a:srgbClr val="E0A526"/>
                </a:solidFill>
                <a:latin typeface="Calibri" pitchFamily="34" charset="0"/>
                <a:ea typeface="Calibri" pitchFamily="34" charset="-122"/>
                <a:cs typeface="Calibri" pitchFamily="34" charset="-120"/>
              </a:rPr>
              <a:t>Jackson Hole &amp; the Fed   </a:t>
            </a:r>
            <a:pPr indent="0" marL="0">
              <a:lnSpc>
                <a:spcPct val="105000"/>
              </a:lnSpc>
              <a:buNone/>
            </a:pPr>
            <a:r>
              <a:rPr lang="en-US" sz="1150" dirty="0">
                <a:solidFill>
                  <a:srgbClr val="DCE9DF"/>
                </a:solidFill>
                <a:latin typeface="Calibri" pitchFamily="34" charset="0"/>
                <a:ea typeface="Calibri" pitchFamily="34" charset="-122"/>
                <a:cs typeface="Calibri" pitchFamily="34" charset="-120"/>
              </a:rPr>
              <a:t>Hike odds repriced to ~35%; a hawkish surprise hits commodities broadly</a:t>
            </a:r>
            <a:endParaRPr lang="en-US" sz="1350" dirty="0"/>
          </a:p>
        </p:txBody>
      </p:sp>
      <p:sp>
        <p:nvSpPr>
          <p:cNvPr id="21" name="Shape 14"/>
          <p:cNvSpPr/>
          <p:nvPr/>
        </p:nvSpPr>
        <p:spPr>
          <a:xfrm>
            <a:off x="6355080" y="5102352"/>
            <a:ext cx="512064" cy="512064"/>
          </a:xfrm>
          <a:prstGeom prst="ellipse">
            <a:avLst/>
          </a:prstGeom>
          <a:solidFill>
            <a:srgbClr val="2D6A4F"/>
          </a:solidFill>
          <a:ln/>
        </p:spPr>
      </p:sp>
      <p:pic>
        <p:nvPicPr>
          <p:cNvPr id="22" name="Image 5" descr="preencoded.png">    </p:cNvPr>
          <p:cNvPicPr>
            <a:picLocks noChangeAspect="1"/>
          </p:cNvPicPr>
          <p:nvPr/>
        </p:nvPicPr>
        <p:blipFill>
          <a:blip r:embed="rId6"/>
          <a:stretch>
            <a:fillRect/>
          </a:stretch>
        </p:blipFill>
        <p:spPr>
          <a:xfrm>
            <a:off x="6477975" y="5225247"/>
            <a:ext cx="266273" cy="266273"/>
          </a:xfrm>
          <a:prstGeom prst="rect">
            <a:avLst/>
          </a:prstGeom>
        </p:spPr>
      </p:pic>
      <p:sp>
        <p:nvSpPr>
          <p:cNvPr id="23" name="Text 15"/>
          <p:cNvSpPr/>
          <p:nvPr/>
        </p:nvSpPr>
        <p:spPr>
          <a:xfrm>
            <a:off x="7040880" y="5056632"/>
            <a:ext cx="4572000" cy="777240"/>
          </a:xfrm>
          <a:prstGeom prst="rect">
            <a:avLst/>
          </a:prstGeom>
          <a:noFill/>
          <a:ln/>
        </p:spPr>
        <p:txBody>
          <a:bodyPr wrap="square" lIns="0" tIns="0" rIns="0" bIns="0" rtlCol="0" anchor="t"/>
          <a:lstStyle/>
          <a:p>
            <a:pPr indent="0" marL="0">
              <a:lnSpc>
                <a:spcPct val="105000"/>
              </a:lnSpc>
              <a:buNone/>
            </a:pPr>
            <a:r>
              <a:rPr lang="en-US" sz="1350" b="1" dirty="0">
                <a:solidFill>
                  <a:srgbClr val="E0A526"/>
                </a:solidFill>
                <a:latin typeface="Calibri" pitchFamily="34" charset="0"/>
                <a:ea typeface="Calibri" pitchFamily="34" charset="-122"/>
                <a:cs typeface="Calibri" pitchFamily="34" charset="-120"/>
              </a:rPr>
              <a:t>Floods vs rising arrivals   </a:t>
            </a:r>
            <a:pPr indent="0" marL="0">
              <a:lnSpc>
                <a:spcPct val="105000"/>
              </a:lnSpc>
              <a:buNone/>
            </a:pPr>
            <a:r>
              <a:rPr lang="en-US" sz="1150" dirty="0">
                <a:solidFill>
                  <a:srgbClr val="DCE9DF"/>
                </a:solidFill>
                <a:latin typeface="Calibri" pitchFamily="34" charset="0"/>
                <a:ea typeface="Calibri" pitchFamily="34" charset="-122"/>
                <a:cs typeface="Calibri" pitchFamily="34" charset="-120"/>
              </a:rPr>
              <a:t>Southern flood alerts support prices near term; central-market volume is rebuilding underneath</a:t>
            </a:r>
            <a:endParaRPr lang="en-US" sz="1350" dirty="0"/>
          </a:p>
        </p:txBody>
      </p:sp>
      <p:sp>
        <p:nvSpPr>
          <p:cNvPr id="24" name="Text 16"/>
          <p:cNvSpPr/>
          <p:nvPr/>
        </p:nvSpPr>
        <p:spPr>
          <a:xfrm>
            <a:off x="566928" y="6355080"/>
            <a:ext cx="10972800" cy="274320"/>
          </a:xfrm>
          <a:prstGeom prst="rect">
            <a:avLst/>
          </a:prstGeom>
          <a:noFill/>
          <a:ln/>
        </p:spPr>
        <p:txBody>
          <a:bodyPr wrap="square" lIns="0" tIns="0" rIns="0" bIns="0" rtlCol="0" anchor="ctr"/>
          <a:lstStyle/>
          <a:p>
            <a:pPr indent="0" marL="0">
              <a:buNone/>
            </a:pPr>
            <a:r>
              <a:rPr lang="en-US" sz="1050" dirty="0">
                <a:solidFill>
                  <a:srgbClr val="8FA697"/>
                </a:solidFill>
                <a:latin typeface="Calibri" pitchFamily="34" charset="0"/>
                <a:ea typeface="Calibri" pitchFamily="34" charset="-122"/>
                <a:cs typeface="Calibri" pitchFamily="34" charset="-120"/>
              </a:rPr>
              <a:t>Prepared 24 Aug 2026 · David Zhao, Rubber Desk — from desk market-intelligence emails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2026-08-24T08:35:50Z</dcterms:created>
  <dcterms:modified xsi:type="dcterms:W3CDTF">2026-08-24T08:35:50Z</dcterms:modified>
</cp:coreProperties>
</file>