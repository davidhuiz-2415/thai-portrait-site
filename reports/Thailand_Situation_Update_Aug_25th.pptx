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341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3413"/>
                </a:solidFill>
                <a:latin typeface="Calibri"/>
              </a:rPr>
              <a:t>SICOM TSR20 daily settles (US¢/kg)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SICOM TSR20 Sep (US¢/kg)</c:v>
                </c:pt>
              </c:strCache>
            </c:strRef>
          </c:tx>
          <c:spPr>
            <a:solidFill>
              <a:srgbClr val="D97706"/>
            </a:solidFill>
            <a:ln w="444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341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 Aug</c:v>
                  </c:pt>
                  <c:pt idx="1">
                    <c:v>14 Aug</c:v>
                  </c:pt>
                  <c:pt idx="2">
                    <c:v>17 Aug</c:v>
                  </c:pt>
                  <c:pt idx="3">
                    <c:v>18 Aug</c:v>
                  </c:pt>
                  <c:pt idx="4">
                    <c:v>19 Aug</c:v>
                  </c:pt>
                  <c:pt idx="5">
                    <c:v>20 Aug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222.2</c:v>
                </c:pt>
                <c:pt idx="1">
                  <c:v>219.8</c:v>
                </c:pt>
                <c:pt idx="2">
                  <c:v>223.7</c:v>
                </c:pt>
                <c:pt idx="3">
                  <c:v>224.8</c:v>
                </c:pt>
                <c:pt idx="4">
                  <c:v>228.2</c:v>
                </c:pt>
                <c:pt idx="5">
                  <c:v>231.1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5B341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8C5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5"/>
          <c:min val="215"/>
        </c:scaling>
        <c:delete val="0"/>
        <c:axPos val="l"/>
        <c:majorGridlines>
          <c:spPr>
            <a:ln w="9525" cap="flat">
              <a:solidFill>
                <a:srgbClr val="F0CFA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5A2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341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3413"/>
                </a:solidFill>
                <a:latin typeface="Calibri"/>
              </a:rPr>
              <a:t>OSE warehouse NR stock (tonnes)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OSE designated-warehouse NR stock (t)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5B341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 peak</c:v>
                  </c:pt>
                  <c:pt idx="1">
                    <c:v>10 Jul</c:v>
                  </c:pt>
                  <c:pt idx="2">
                    <c:v>20 Jul</c:v>
                  </c:pt>
                  <c:pt idx="3">
                    <c:v>31 Jul</c:v>
                  </c:pt>
                  <c:pt idx="4">
                    <c:v>10 Aug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5470</c:v>
                </c:pt>
                <c:pt idx="1">
                  <c:v>4669</c:v>
                </c:pt>
                <c:pt idx="2">
                  <c:v>4423</c:v>
                </c:pt>
                <c:pt idx="3">
                  <c:v>3601</c:v>
                </c:pt>
                <c:pt idx="4">
                  <c:v>3002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5B341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8C5A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</c:scaling>
        <c:delete val="0"/>
        <c:axPos val="l"/>
        <c:majorGridlines>
          <c:spPr>
            <a:ln w="9525" cap="flat">
              <a:solidFill>
                <a:srgbClr val="F0CFA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5A2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965960"/>
          </a:xfrm>
          <a:prstGeom prst="rect">
            <a:avLst/>
          </a:prstGeom>
          <a:solidFill>
            <a:srgbClr val="FFE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840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365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OLAM AGRI  ·  RUBBER DESK  ·  BANGKOK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66928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 Update</a:t>
            </a:r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Aug 25th 2026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SITUATION — RAW MATERIAL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2633472"/>
            <a:ext cx="7406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overall okay — localized flood disruptions and rain-driven quality pressure; DRC weak on persistent rain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lump: South ~71 THB/kg tracking SICOM, North ~70 — some factories paying premiums to secure material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demand from glove makers steady, but they can't match RSS/USS pricing — sheet producers pay ~2 THB more, pulling material toward RSS/USS</a:t>
            </a:r>
            <a:endParaRPr lang="en-US" sz="15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rally does not look driven by Thai raw-material shortage — more macro factors, other origins and nearby tightness; nearby still feels short as factories keep building stock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75320" y="2212848"/>
            <a:ext cx="3337560" cy="1207008"/>
          </a:xfrm>
          <a:prstGeom prst="roundRect">
            <a:avLst>
              <a:gd name="adj" fmla="val 6818"/>
            </a:avLst>
          </a:prstGeom>
          <a:solidFill>
            <a:srgbClr val="E58E2C"/>
          </a:solidFill>
          <a:ln/>
        </p:spPr>
      </p:sp>
      <p:sp>
        <p:nvSpPr>
          <p:cNvPr id="9" name="Text 6"/>
          <p:cNvSpPr/>
          <p:nvPr/>
        </p:nvSpPr>
        <p:spPr>
          <a:xfrm>
            <a:off x="8522208" y="23225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~71 THB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522208" y="28163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lump, South (tracking SICOM)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3584448"/>
            <a:ext cx="3337560" cy="1207008"/>
          </a:xfrm>
          <a:prstGeom prst="roundRect">
            <a:avLst>
              <a:gd name="adj" fmla="val 6818"/>
            </a:avLst>
          </a:prstGeom>
          <a:solidFill>
            <a:srgbClr val="E58E2C"/>
          </a:solidFill>
          <a:ln/>
        </p:spPr>
      </p:sp>
      <p:sp>
        <p:nvSpPr>
          <p:cNvPr id="12" name="Text 9"/>
          <p:cNvSpPr/>
          <p:nvPr/>
        </p:nvSpPr>
        <p:spPr>
          <a:xfrm>
            <a:off x="8522208" y="36941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 THB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22208" y="4187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lump, North (DRC weak on rain)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75320" y="4956048"/>
            <a:ext cx="3337560" cy="1207008"/>
          </a:xfrm>
          <a:prstGeom prst="roundRect">
            <a:avLst>
              <a:gd name="adj" fmla="val 6818"/>
            </a:avLst>
          </a:prstGeom>
          <a:solidFill>
            <a:srgbClr val="E58E2C"/>
          </a:solidFill>
          <a:ln/>
        </p:spPr>
      </p:sp>
      <p:sp>
        <p:nvSpPr>
          <p:cNvPr id="15" name="Text 12"/>
          <p:cNvSpPr/>
          <p:nvPr/>
        </p:nvSpPr>
        <p:spPr>
          <a:xfrm>
            <a:off x="8522208" y="50657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 THB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522208" y="55595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RSS/USS premium over latex buyers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from the desk's market-intelligence emails · two-week market review inside (10–23 Aug)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 Weather Update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Department warnings, 25 August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E3C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47088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198315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Thunderstorm warning — 23 provinces on Tuesday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084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heavy rain expected; Bangkok and surrounding areas to see rain mainly from the afternoon through the evening.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761488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E3C4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80944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3117007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southwest monsoon over Thailand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2186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fairly strong southwest monsoon covers the country, with a monsoon trough stretching towards Tropical Storm Nangka over the Gulf of Tonkin.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89534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E3C4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114800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42508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867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Storm Nangka — not headed for Thailand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3525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Nangka is forecast to make landfall in southern Guangxi, China on 25–26 August and is not expected to move into Thailand.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E3C4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5248656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538471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20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seas on the upper Andaman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00200" y="5486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of 2–3 metres, rising above 3 metres in thunderstorms. Small boats in the area are advised to remain ashore.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66928" y="61996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read: </a:t>
            </a:r>
            <a:pPr indent="0" marL="0">
              <a:buNone/>
            </a:pPr>
            <a:r>
              <a:rPr lang="en-US" sz="1400" i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rain keeps DRC weak and tapping patchy in flood-hit pockets — quality premiums persist, but no broad supply shortage.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Futures: a V-shaped fortnight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washed out on demand fears — week 2 rallied on oil, a weaker dollar and the TOCOM squeeze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852160" cy="3858768"/>
          </a:xfrm>
          <a:prstGeom prst="roundRect">
            <a:avLst>
              <a:gd name="adj" fmla="val 1896"/>
            </a:avLst>
          </a:prstGeom>
          <a:solidFill>
            <a:srgbClr val="FFE3C4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77240" y="1755648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536192"/>
            <a:ext cx="4892040" cy="1865376"/>
          </a:xfrm>
          <a:prstGeom prst="roundRect">
            <a:avLst>
              <a:gd name="adj" fmla="val 3922"/>
            </a:avLst>
          </a:prstGeom>
          <a:solidFill>
            <a:srgbClr val="FFE3C4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164592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10–14 AUG — WASHOUT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9440" y="1956816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219.8 Friday after a 222.2 peak; Songkhla USS fell 3.2 to 79.2 THB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Jul car sales –21.1% y/y (10th straight fall); Jul rubber imports –8.5%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Jun output +31.5% m/m; RAOT warned of more downside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3529584"/>
            <a:ext cx="4892040" cy="1865376"/>
          </a:xfrm>
          <a:prstGeom prst="roundRect">
            <a:avLst>
              <a:gd name="adj" fmla="val 3922"/>
            </a:avLst>
          </a:prstGeom>
          <a:solidFill>
            <a:srgbClr val="FFE3C4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36393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17–21 AUG — FIVE-DAY RALLY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49440" y="3950208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US–Iran MOU expired: Hormuz nearly shut (≈3 vessels/day vs ~130); Brent 93.25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index at 3-month lows; THB firmed 33.1 → 32.80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TSR20 +11.3¢ off the low; OSE Jan ¥420.5 → 438.4; SHFE Jan 17,790 → 18,350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56235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C96F10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5705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 RSS3 Jan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9808" y="59801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¥438.4  </a:t>
            </a:r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 w/w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355848" y="56235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C96F10"/>
          </a:solidFill>
          <a:ln/>
        </p:spPr>
      </p:sp>
      <p:sp>
        <p:nvSpPr>
          <p:cNvPr id="16" name="Text 13"/>
          <p:cNvSpPr/>
          <p:nvPr/>
        </p:nvSpPr>
        <p:spPr>
          <a:xfrm>
            <a:off x="3538728" y="5705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SHFE RU Jan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38728" y="59801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18,350  </a:t>
            </a:r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w/w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44768" y="56235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C96F10"/>
          </a:solidFill>
          <a:ln/>
        </p:spPr>
      </p:sp>
      <p:sp>
        <p:nvSpPr>
          <p:cNvPr id="19" name="Text 16"/>
          <p:cNvSpPr/>
          <p:nvPr/>
        </p:nvSpPr>
        <p:spPr>
          <a:xfrm>
            <a:off x="6327648" y="5705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27648" y="59801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$93.25  </a:t>
            </a:r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4-wk high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933688" y="56235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C96F10"/>
          </a:solidFill>
          <a:ln/>
        </p:spPr>
      </p:sp>
      <p:sp>
        <p:nvSpPr>
          <p:cNvPr id="22" name="Text 19"/>
          <p:cNvSpPr/>
          <p:nvPr/>
        </p:nvSpPr>
        <p:spPr>
          <a:xfrm>
            <a:off x="9116568" y="5705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USD/THB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16568" y="59801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32.80  </a:t>
            </a:r>
            <a:pPr indent="0" marL="0">
              <a:buNone/>
            </a:pPr>
            <a:r>
              <a:rPr lang="en-US" sz="1150" dirty="0">
                <a:solidFill>
                  <a:srgbClr val="FFE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firming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 physical: raw materials firm off the lows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6–14 Aug slide, every grade stabilised or rose through 17–21 Aug; latex led the recovery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61722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325880"/>
                <a:gridCol w="1417320"/>
                <a:gridCol w="10972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(THB/kg)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F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10–14 Aug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F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17–21 Aug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F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F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 auction (Songkhla)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 → 79.2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 – 81.3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RSS3 (Songkhla)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 – 84.3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C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 lump (93 pts avg)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65.45 → 66.30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5 sessions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latex (south)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– 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– 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~1.0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Latex 60% conc. (intl)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55.69 → 57.11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741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USS buying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B3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 – 75.8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8C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74–75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F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34924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Central-market RSS volume hit a weekly high of 488 t on Fri 21 Aug — arrivals are catching up.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67728" y="1572768"/>
            <a:ext cx="4663440" cy="1481328"/>
          </a:xfrm>
          <a:prstGeom prst="roundRect">
            <a:avLst>
              <a:gd name="adj" fmla="val 4938"/>
            </a:avLst>
          </a:prstGeom>
          <a:solidFill>
            <a:srgbClr val="FFE3C4"/>
          </a:solidFill>
          <a:ln/>
        </p:spPr>
      </p:sp>
      <p:sp>
        <p:nvSpPr>
          <p:cNvPr id="7" name="Shape 4"/>
          <p:cNvSpPr/>
          <p:nvPr/>
        </p:nvSpPr>
        <p:spPr>
          <a:xfrm>
            <a:off x="7168896" y="1993392"/>
            <a:ext cx="603504" cy="603504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3737" y="2138233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27848" y="16824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disruption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927848" y="20116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heavy-rain warnings 17–21 Aug; flood and mudslide alerts across the southern producing belt. Short-term supply support, but flood risk needs watching.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967728" y="3200400"/>
            <a:ext cx="4663440" cy="1481328"/>
          </a:xfrm>
          <a:prstGeom prst="roundRect">
            <a:avLst>
              <a:gd name="adj" fmla="val 4938"/>
            </a:avLst>
          </a:prstGeom>
          <a:solidFill>
            <a:srgbClr val="FFE3C4"/>
          </a:solidFill>
          <a:ln/>
        </p:spPr>
      </p:sp>
      <p:sp>
        <p:nvSpPr>
          <p:cNvPr id="12" name="Shape 8"/>
          <p:cNvSpPr/>
          <p:nvPr/>
        </p:nvSpPr>
        <p:spPr>
          <a:xfrm>
            <a:off x="7168896" y="3621024"/>
            <a:ext cx="603504" cy="603504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737" y="3765865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27848" y="33101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re-engaging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27848" y="36393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more active into the new trading season; central-market volumes rising. RSS export offers now 271 lowest, most at 275–280 US¢.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6967728" y="4828032"/>
            <a:ext cx="4663440" cy="1481328"/>
          </a:xfrm>
          <a:prstGeom prst="roundRect">
            <a:avLst>
              <a:gd name="adj" fmla="val 4938"/>
            </a:avLst>
          </a:prstGeom>
          <a:solidFill>
            <a:srgbClr val="FFE3C4"/>
          </a:solidFill>
          <a:ln/>
        </p:spPr>
      </p:sp>
      <p:sp>
        <p:nvSpPr>
          <p:cNvPr id="17" name="Shape 12"/>
          <p:cNvSpPr/>
          <p:nvPr/>
        </p:nvSpPr>
        <p:spPr>
          <a:xfrm>
            <a:off x="7168896" y="5248656"/>
            <a:ext cx="603504" cy="603504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737" y="5393497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27848" y="49377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FX: THB firming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927848" y="526694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Baht strengthened 33.1 → 32.80/USD through the rally week — supports local prices but caps export margin upside.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change: the TOCOM squeeze tightens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stocks near historic lows and record backwardation are reshaping Thai RSS flows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E3C4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77240" y="1755648"/>
          <a:ext cx="5166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627632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83" y="1763695"/>
            <a:ext cx="294803" cy="2948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5361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down 45% — and still draining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178040" y="186537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3,002 t on 10 Aug vs 5,470 t June peak; deliverable RSS3 just 2,801 t. Outflow ~500 t/week vs only ~400 t heard heading in.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46520" y="2907792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83" y="3043855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8040" y="2816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backwardation punishes shorts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178040" y="314553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 nearby spread hit ¥40.5 on 20 Aug — widest ever (previous ¥32.9, Feb 2020). Aug contract spiked to ¥478.9.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46520" y="4187952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83" y="4324015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40965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RSS arbitrage to Japan opens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178040" y="442569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RSS offers 271–280 US¢ vs TOCOM FOB ≈265–268 — spread narrowed sharply; traders eye RSS shipments to Japan.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46520" y="5468112"/>
            <a:ext cx="566928" cy="566928"/>
          </a:xfrm>
          <a:prstGeom prst="ellipse">
            <a:avLst/>
          </a:prstGeom>
          <a:solidFill>
            <a:srgbClr val="C96F1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583" y="5604175"/>
            <a:ext cx="294803" cy="29480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78040" y="53766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producer economics still positive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178040" y="57058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lump 65–68 THB in the field vs tire makers paying ~73 THB — about 1 THB/kg margin after 4–5 THB logistics.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66928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Okachi Japan rubber stock reports (18 &amp; 20 Aug) · desk weekly updates 17 &amp; 23 Aug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Intermarket spread: OSE RSS 6th – SGX TSR 4th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spread = SGX TSR comparatively cheaper · 2026 in red vs 2017–25 seasonals</a:t>
            </a:r>
            <a:endParaRPr lang="en-US" sz="1400" dirty="0"/>
          </a:p>
        </p:txBody>
      </p:sp>
      <p:pic>
        <p:nvPicPr>
          <p:cNvPr id="4" name="Image 0" descr="pic_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728" y="1261872"/>
            <a:ext cx="8695496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Okachi &amp; Co.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4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Intermarket spread: OSE RSS 6th – RSS3 Bangkok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spread = RSS3 Hatyai comparatively cheaper · 2026 in red vs 2017–25 seasonals</a:t>
            </a:r>
            <a:endParaRPr lang="en-US" sz="1400" dirty="0"/>
          </a:p>
        </p:txBody>
      </p:sp>
      <p:pic>
        <p:nvPicPr>
          <p:cNvPr id="4" name="Image 0" descr="pic_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5597" y="1261872"/>
            <a:ext cx="8477758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Okachi &amp; Co.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2026-08-25T06:55:15Z</dcterms:created>
  <dcterms:modified xsi:type="dcterms:W3CDTF">2026-08-25T06:55:15Z</dcterms:modified>
</cp:coreProperties>
</file>